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3"/>
  </p:handoutMasterIdLst>
  <p:sldIdLst>
    <p:sldId id="256" r:id="rId3"/>
    <p:sldId id="257" r:id="rId4"/>
    <p:sldId id="259" r:id="rId6"/>
    <p:sldId id="258" r:id="rId7"/>
    <p:sldId id="260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6.xml"/><Relationship Id="rId2" Type="http://schemas.openxmlformats.org/officeDocument/2006/relationships/tags" Target="../tags/tag67.xml"/><Relationship Id="rId19" Type="http://schemas.openxmlformats.org/officeDocument/2006/relationships/tags" Target="../tags/tag84.xml"/><Relationship Id="rId18" Type="http://schemas.openxmlformats.org/officeDocument/2006/relationships/tags" Target="../tags/tag83.xml"/><Relationship Id="rId17" Type="http://schemas.openxmlformats.org/officeDocument/2006/relationships/tags" Target="../tags/tag82.xml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6" Type="http://schemas.openxmlformats.org/officeDocument/2006/relationships/slideLayout" Target="../slideLayouts/slideLayout6.xml"/><Relationship Id="rId25" Type="http://schemas.openxmlformats.org/officeDocument/2006/relationships/tags" Target="../tags/tag103.xml"/><Relationship Id="rId24" Type="http://schemas.openxmlformats.org/officeDocument/2006/relationships/image" Target="../media/image6.svg"/><Relationship Id="rId23" Type="http://schemas.openxmlformats.org/officeDocument/2006/relationships/image" Target="../media/image5.png"/><Relationship Id="rId22" Type="http://schemas.openxmlformats.org/officeDocument/2006/relationships/tags" Target="../tags/tag102.xml"/><Relationship Id="rId21" Type="http://schemas.openxmlformats.org/officeDocument/2006/relationships/image" Target="../media/image4.svg"/><Relationship Id="rId20" Type="http://schemas.openxmlformats.org/officeDocument/2006/relationships/image" Target="../media/image3.png"/><Relationship Id="rId2" Type="http://schemas.openxmlformats.org/officeDocument/2006/relationships/tags" Target="../tags/tag86.xml"/><Relationship Id="rId19" Type="http://schemas.openxmlformats.org/officeDocument/2006/relationships/tags" Target="../tags/tag101.xml"/><Relationship Id="rId18" Type="http://schemas.openxmlformats.org/officeDocument/2006/relationships/image" Target="../media/image2.svg"/><Relationship Id="rId17" Type="http://schemas.openxmlformats.org/officeDocument/2006/relationships/image" Target="../media/image1.png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tags" Target="../tags/tag8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4" Type="http://schemas.openxmlformats.org/officeDocument/2006/relationships/slideLayout" Target="../slideLayouts/slideLayout6.xml"/><Relationship Id="rId33" Type="http://schemas.openxmlformats.org/officeDocument/2006/relationships/tags" Target="../tags/tag130.xml"/><Relationship Id="rId32" Type="http://schemas.openxmlformats.org/officeDocument/2006/relationships/tags" Target="../tags/tag129.xml"/><Relationship Id="rId31" Type="http://schemas.openxmlformats.org/officeDocument/2006/relationships/tags" Target="../tags/tag128.xml"/><Relationship Id="rId30" Type="http://schemas.openxmlformats.org/officeDocument/2006/relationships/tags" Target="../tags/tag127.xml"/><Relationship Id="rId3" Type="http://schemas.openxmlformats.org/officeDocument/2006/relationships/tags" Target="../tags/tag106.xml"/><Relationship Id="rId29" Type="http://schemas.openxmlformats.org/officeDocument/2006/relationships/tags" Target="../tags/tag126.xml"/><Relationship Id="rId28" Type="http://schemas.openxmlformats.org/officeDocument/2006/relationships/tags" Target="../tags/tag125.xml"/><Relationship Id="rId27" Type="http://schemas.openxmlformats.org/officeDocument/2006/relationships/tags" Target="../tags/tag124.xml"/><Relationship Id="rId26" Type="http://schemas.openxmlformats.org/officeDocument/2006/relationships/tags" Target="../tags/tag123.xml"/><Relationship Id="rId25" Type="http://schemas.openxmlformats.org/officeDocument/2006/relationships/tags" Target="../tags/tag122.xml"/><Relationship Id="rId24" Type="http://schemas.openxmlformats.org/officeDocument/2006/relationships/tags" Target="../tags/tag121.xml"/><Relationship Id="rId23" Type="http://schemas.openxmlformats.org/officeDocument/2006/relationships/tags" Target="../tags/tag120.xml"/><Relationship Id="rId22" Type="http://schemas.openxmlformats.org/officeDocument/2006/relationships/tags" Target="../tags/tag119.xml"/><Relationship Id="rId21" Type="http://schemas.openxmlformats.org/officeDocument/2006/relationships/tags" Target="../tags/tag118.xml"/><Relationship Id="rId20" Type="http://schemas.openxmlformats.org/officeDocument/2006/relationships/tags" Target="../tags/tag117.xml"/><Relationship Id="rId2" Type="http://schemas.openxmlformats.org/officeDocument/2006/relationships/tags" Target="../tags/tag105.xml"/><Relationship Id="rId19" Type="http://schemas.openxmlformats.org/officeDocument/2006/relationships/image" Target="../media/image12.svg"/><Relationship Id="rId18" Type="http://schemas.openxmlformats.org/officeDocument/2006/relationships/image" Target="../media/image11.png"/><Relationship Id="rId17" Type="http://schemas.openxmlformats.org/officeDocument/2006/relationships/tags" Target="../tags/tag116.xml"/><Relationship Id="rId16" Type="http://schemas.openxmlformats.org/officeDocument/2006/relationships/image" Target="../media/image10.svg"/><Relationship Id="rId15" Type="http://schemas.openxmlformats.org/officeDocument/2006/relationships/image" Target="../media/image9.png"/><Relationship Id="rId14" Type="http://schemas.openxmlformats.org/officeDocument/2006/relationships/tags" Target="../tags/tag115.xml"/><Relationship Id="rId13" Type="http://schemas.openxmlformats.org/officeDocument/2006/relationships/image" Target="../media/image8.svg"/><Relationship Id="rId12" Type="http://schemas.openxmlformats.org/officeDocument/2006/relationships/image" Target="../media/image7.png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tags" Target="../tags/tag10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132.xml"/><Relationship Id="rId2" Type="http://schemas.openxmlformats.org/officeDocument/2006/relationships/image" Target="../media/image13.png"/><Relationship Id="rId1" Type="http://schemas.openxmlformats.org/officeDocument/2006/relationships/tags" Target="../tags/tag1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33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34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35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accent1"/>
                </a:solidFill>
              </a:rPr>
              <a:t>a</a:t>
            </a:r>
            <a:r>
              <a:rPr lang="en-US" altLang="zh-CN">
                <a:solidFill>
                  <a:srgbClr val="C00000"/>
                </a:solidFill>
              </a:rPr>
              <a:t>icuber</a:t>
            </a:r>
            <a:r>
              <a:rPr lang="en-US" altLang="zh-CN">
                <a:solidFill>
                  <a:schemeClr val="tx1"/>
                </a:solidFill>
              </a:rPr>
              <a:t>.co</a:t>
            </a:r>
            <a:r>
              <a:rPr lang="en-US" altLang="zh-CN"/>
              <a:t> ui sketch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aicuber ui </a:t>
            </a:r>
            <a:r>
              <a:rPr lang="zh-CN" altLang="en-US"/>
              <a:t>设计</a:t>
            </a:r>
            <a:r>
              <a:rPr lang="zh-CN" altLang="en-US"/>
              <a:t>草图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17240"/>
            <a:ext cx="10969200" cy="705600"/>
          </a:xfrm>
        </p:spPr>
        <p:txBody>
          <a:bodyPr wrap="square">
            <a:normAutofit/>
          </a:bodyPr>
          <a:lstStyle/>
          <a:p>
            <a:r>
              <a:rPr lang="zh-CN" altLang="en-US" sz="2800" dirty="0"/>
              <a:t>用户画像</a:t>
            </a:r>
            <a:r>
              <a:rPr lang="en-US" altLang="zh-CN" sz="2800" dirty="0"/>
              <a:t> who are our users?</a:t>
            </a:r>
            <a:endParaRPr lang="en-US" altLang="zh-CN" sz="2800" dirty="0"/>
          </a:p>
        </p:txBody>
      </p:sp>
      <p:sp>
        <p:nvSpPr>
          <p:cNvPr id="74" name="圆角矩形 73"/>
          <p:cNvSpPr/>
          <p:nvPr>
            <p:custDataLst>
              <p:tags r:id="rId2"/>
            </p:custDataLst>
          </p:nvPr>
        </p:nvSpPr>
        <p:spPr>
          <a:xfrm>
            <a:off x="4885654" y="1409275"/>
            <a:ext cx="2003807" cy="59146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学生</a:t>
            </a:r>
            <a:r>
              <a:rPr lang="en-US" altLang="zh-CN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/student</a:t>
            </a:r>
            <a:r>
              <a:rPr lang="en-US" altLang="zh-CN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s</a:t>
            </a:r>
            <a:endParaRPr lang="en-US" altLang="zh-CN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7179087" y="1026553"/>
            <a:ext cx="4316954" cy="11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初中生和高中生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，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大学生为主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；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需求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：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翻译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；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doc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文档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、PPT、PDF、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错题及加练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、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绘图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、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试卷评分、考试倒计时等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；</a:t>
            </a:r>
            <a:endParaRPr lang="en-US" altLang="zh-CN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Middle ，high school students, college students; Requirements: translation; doc documents, PPTs, PDFs, incorrect questions and additional practice, drawing, exam scoring, exam countdown, etc.</a:t>
            </a:r>
            <a:endParaRPr lang="en-US" altLang="zh-CN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3" name="圆角矩形 82"/>
          <p:cNvSpPr/>
          <p:nvPr>
            <p:custDataLst>
              <p:tags r:id="rId4"/>
            </p:custDataLst>
          </p:nvPr>
        </p:nvSpPr>
        <p:spPr>
          <a:xfrm>
            <a:off x="4885654" y="2752681"/>
            <a:ext cx="2003807" cy="59146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学生家长</a:t>
            </a:r>
            <a:r>
              <a:rPr lang="en-US" altLang="zh-CN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/parents</a:t>
            </a:r>
            <a:endParaRPr lang="en-US" altLang="zh-CN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7179087" y="2483624"/>
            <a:ext cx="4316954" cy="11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翻译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；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错题及加练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；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doc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文档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；PPT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、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PDF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、模拟真题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、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试卷评分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考试倒计时等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；</a:t>
            </a:r>
            <a:endParaRPr lang="en-US" altLang="zh-CN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Translation; doc documents, PPTs, PDFs, incorrect questions and additional practice, exam scoring, exam countdown, etc.</a:t>
            </a:r>
            <a:endParaRPr lang="en-US" altLang="zh-CN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9" name="圆角矩形 88"/>
          <p:cNvSpPr/>
          <p:nvPr>
            <p:custDataLst>
              <p:tags r:id="rId6"/>
            </p:custDataLst>
          </p:nvPr>
        </p:nvSpPr>
        <p:spPr>
          <a:xfrm>
            <a:off x="4885654" y="4144347"/>
            <a:ext cx="2003807" cy="59146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公司白领</a:t>
            </a:r>
            <a:r>
              <a:rPr lang="en-US" altLang="zh-CN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/White-collar worker</a:t>
            </a:r>
            <a:endParaRPr lang="en-US" altLang="zh-CN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7179087" y="3834015"/>
            <a:ext cx="4316954" cy="11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会议记录</a:t>
            </a:r>
            <a:r>
              <a:rPr lang="en-US" altLang="zh-CN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、</a:t>
            </a:r>
            <a:r>
              <a:rPr lang="zh-CN" altLang="en-US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工作流</a:t>
            </a:r>
            <a:r>
              <a:rPr lang="en-US" altLang="zh-CN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、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doc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文档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、Excel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文档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、PPT、PDF、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绘图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视频制作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行业数据分析及建议等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；</a:t>
            </a:r>
            <a:endParaRPr lang="en-US" altLang="zh-CN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Meeting minutes, workflow, doc documents, Excel documents, PPT, PDF, drawing, video production, industry data analysis and suggestions, etc.</a:t>
            </a:r>
            <a:endParaRPr lang="en-US" altLang="zh-CN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8"/>
            </p:custDataLst>
          </p:nvPr>
        </p:nvSpPr>
        <p:spPr>
          <a:xfrm>
            <a:off x="4885654" y="5554012"/>
            <a:ext cx="2003807" cy="59146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一人公司</a:t>
            </a:r>
            <a:r>
              <a:rPr lang="en-US" altLang="zh-CN" sz="16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16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初创公司</a:t>
            </a:r>
            <a:r>
              <a:rPr lang="en-US" altLang="zh-CN" sz="1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One-person  / Startup company</a:t>
            </a:r>
            <a:endParaRPr lang="en-US" altLang="zh-CN" sz="1000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7179087" y="5358395"/>
            <a:ext cx="4316954" cy="11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会议记录</a:t>
            </a:r>
            <a:r>
              <a:rPr lang="en-US" altLang="zh-CN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</a:t>
            </a:r>
            <a:r>
              <a:rPr lang="zh-CN" altLang="en-US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工作流</a:t>
            </a:r>
            <a:r>
              <a:rPr lang="en-US" altLang="zh-CN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doc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文档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、Excel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文档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、PPT、PDF、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绘图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视频制作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行业数据分析及建议、客户回访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问卷调查等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；</a:t>
            </a:r>
            <a:endParaRPr lang="en-US" altLang="zh-CN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Meeting minutes, workflow, doc documents, Excel documents, PPT, PDF, drawing, video production, industry data analysis and suggestions, customer follow-up, questionnaire survey, etc.</a:t>
            </a:r>
            <a:endParaRPr lang="en-US" altLang="zh-CN" sz="12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" name="椭圆 1"/>
          <p:cNvSpPr/>
          <p:nvPr>
            <p:custDataLst>
              <p:tags r:id="rId10"/>
            </p:custDataLst>
          </p:nvPr>
        </p:nvSpPr>
        <p:spPr>
          <a:xfrm>
            <a:off x="534394" y="437019"/>
            <a:ext cx="4029463" cy="4029463"/>
          </a:xfrm>
          <a:prstGeom prst="ellipse">
            <a:avLst/>
          </a:prstGeom>
          <a:noFill/>
          <a:ln>
            <a:gradFill>
              <a:gsLst>
                <a:gs pos="0">
                  <a:schemeClr val="accent1">
                    <a:lumMod val="60000"/>
                    <a:lumOff val="40000"/>
                    <a:alpha val="40000"/>
                  </a:schemeClr>
                </a:gs>
                <a:gs pos="51000">
                  <a:schemeClr val="accent1">
                    <a:alpha val="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lt1"/>
              </a:solidFill>
              <a:cs typeface="江城圆体 400W" panose="020B0500000000000000" charset="-122"/>
              <a:sym typeface="+mn-ea"/>
            </a:endParaRPr>
          </a:p>
        </p:txBody>
      </p:sp>
      <p:sp>
        <p:nvSpPr>
          <p:cNvPr id="16" name="椭圆 15"/>
          <p:cNvSpPr/>
          <p:nvPr>
            <p:custDataLst>
              <p:tags r:id="rId11"/>
            </p:custDataLst>
          </p:nvPr>
        </p:nvSpPr>
        <p:spPr>
          <a:xfrm>
            <a:off x="3377794" y="4515114"/>
            <a:ext cx="99878" cy="998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江城圆体 400W" panose="020B0500000000000000" charset="-122"/>
              <a:sym typeface="+mn-ea"/>
            </a:endParaRPr>
          </a:p>
        </p:txBody>
      </p:sp>
      <p:sp>
        <p:nvSpPr>
          <p:cNvPr id="18" name="椭圆 17"/>
          <p:cNvSpPr/>
          <p:nvPr>
            <p:custDataLst>
              <p:tags r:id="rId12"/>
            </p:custDataLst>
          </p:nvPr>
        </p:nvSpPr>
        <p:spPr>
          <a:xfrm>
            <a:off x="3377794" y="2151874"/>
            <a:ext cx="99878" cy="998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江城圆体 400W" panose="020B0500000000000000" charset="-122"/>
              <a:sym typeface="+mn-ea"/>
            </a:endParaRPr>
          </a:p>
        </p:txBody>
      </p:sp>
      <p:sp>
        <p:nvSpPr>
          <p:cNvPr id="4" name="椭圆 3"/>
          <p:cNvSpPr/>
          <p:nvPr>
            <p:custDataLst>
              <p:tags r:id="rId13"/>
            </p:custDataLst>
          </p:nvPr>
        </p:nvSpPr>
        <p:spPr>
          <a:xfrm>
            <a:off x="925195" y="863600"/>
            <a:ext cx="3274060" cy="3105785"/>
          </a:xfrm>
          <a:prstGeom prst="ellipse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charset="-122"/>
              <a:sym typeface="+mn-ea"/>
            </a:endParaRPr>
          </a:p>
        </p:txBody>
      </p:sp>
      <p:sp>
        <p:nvSpPr>
          <p:cNvPr id="24" name="椭圆 23"/>
          <p:cNvSpPr/>
          <p:nvPr>
            <p:custDataLst>
              <p:tags r:id="rId14"/>
            </p:custDataLst>
          </p:nvPr>
        </p:nvSpPr>
        <p:spPr>
          <a:xfrm>
            <a:off x="1351280" y="1216025"/>
            <a:ext cx="2421255" cy="23539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our users</a:t>
            </a:r>
            <a:endParaRPr lang="en-US" altLang="zh-CN" sz="28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???</a:t>
            </a:r>
            <a:endParaRPr lang="en-US" altLang="zh-CN" sz="28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3" name="椭圆 12"/>
          <p:cNvSpPr/>
          <p:nvPr>
            <p:custDataLst>
              <p:tags r:id="rId15"/>
            </p:custDataLst>
          </p:nvPr>
        </p:nvSpPr>
        <p:spPr>
          <a:xfrm>
            <a:off x="4140738" y="1494541"/>
            <a:ext cx="99878" cy="998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江城圆体 400W" panose="020B0500000000000000" charset="-122"/>
              <a:sym typeface="+mn-ea"/>
            </a:endParaRPr>
          </a:p>
        </p:txBody>
      </p:sp>
      <p:sp>
        <p:nvSpPr>
          <p:cNvPr id="15" name="椭圆 14"/>
          <p:cNvSpPr/>
          <p:nvPr>
            <p:custDataLst>
              <p:tags r:id="rId16"/>
            </p:custDataLst>
          </p:nvPr>
        </p:nvSpPr>
        <p:spPr>
          <a:xfrm>
            <a:off x="4418233" y="3348360"/>
            <a:ext cx="99878" cy="998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江城圆体 400W" panose="020B0500000000000000" charset="-122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17"/>
            </p:custDataLst>
          </p:nvPr>
        </p:nvSpPr>
        <p:spPr>
          <a:xfrm>
            <a:off x="279177" y="3904880"/>
            <a:ext cx="4316954" cy="11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低收入人群</a:t>
            </a:r>
            <a:r>
              <a:rPr lang="en-US" altLang="zh-CN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，</a:t>
            </a: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需要</a:t>
            </a:r>
            <a:r>
              <a:rPr lang="en-US" altLang="zh-CN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AI</a:t>
            </a: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付费工具解决一部分工作</a:t>
            </a:r>
            <a:r>
              <a:rPr lang="en-US" altLang="zh-CN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；</a:t>
            </a:r>
            <a:endParaRPr lang="en-US" altLang="zh-CN"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偶尔需要付费</a:t>
            </a:r>
            <a:r>
              <a:rPr lang="en-US" altLang="zh-CN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AI</a:t>
            </a: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工具</a:t>
            </a:r>
            <a:r>
              <a:rPr lang="en-US" altLang="zh-CN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，</a:t>
            </a: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充会员费用</a:t>
            </a: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贵且无法用满额度</a:t>
            </a:r>
            <a:r>
              <a:rPr lang="en-US" altLang="zh-CN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；</a:t>
            </a:r>
            <a:endParaRPr lang="en-US" altLang="zh-CN"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一人公司或初创公司</a:t>
            </a:r>
            <a:r>
              <a:rPr lang="en-US" altLang="zh-CN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，</a:t>
            </a: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需要</a:t>
            </a: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付费</a:t>
            </a:r>
            <a:r>
              <a:rPr lang="en-US" altLang="zh-CN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AI</a:t>
            </a: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工具但希望成本最低</a:t>
            </a:r>
            <a:r>
              <a:rPr lang="en-US" altLang="zh-CN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；</a:t>
            </a:r>
            <a:endParaRPr lang="en-US" altLang="zh-CN"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8"/>
            </p:custDataLst>
          </p:nvPr>
        </p:nvSpPr>
        <p:spPr>
          <a:xfrm>
            <a:off x="241077" y="5289815"/>
            <a:ext cx="4316954" cy="11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Low-income individuals need paid AI tools to handle certain tasks;  </a:t>
            </a:r>
            <a:endParaRPr lang="en-US" altLang="zh-CN" sz="12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Occasionally require paid AI tools, but membership fees are expensive and the usage limits aren't fully utilized;  </a:t>
            </a:r>
            <a:endParaRPr lang="en-US" altLang="zh-CN" sz="12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Sole proprietors or startups need paid AI tools but want to minimize costs.</a:t>
            </a:r>
            <a:endParaRPr lang="en-US" altLang="zh-CN" sz="12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405200"/>
            <a:ext cx="10969200" cy="705600"/>
          </a:xfrm>
        </p:spPr>
        <p:txBody>
          <a:bodyPr>
            <a:normAutofit fontScale="90000"/>
          </a:bodyPr>
          <a:lstStyle/>
          <a:p>
            <a:r>
              <a:rPr lang="en-US" altLang="zh-CN" sz="2800"/>
              <a:t>4</a:t>
            </a:r>
            <a:r>
              <a:rPr lang="zh-CN" altLang="en-US" sz="2800"/>
              <a:t>类用户需求叠加</a:t>
            </a:r>
            <a:r>
              <a:rPr lang="en-US" altLang="zh-CN" sz="2800"/>
              <a:t>=aicuber</a:t>
            </a:r>
            <a:r>
              <a:rPr lang="zh-CN" altLang="en-US" sz="2800"/>
              <a:t>首先要做的</a:t>
            </a:r>
            <a:br>
              <a:rPr lang="zh-CN" altLang="en-US" sz="2800"/>
            </a:br>
            <a:r>
              <a:rPr lang="en-US" altLang="zh-CN" sz="2220"/>
              <a:t>The combined demands of the four types of users = The first thing that aicuber needs to do</a:t>
            </a:r>
            <a:endParaRPr lang="en-US" altLang="zh-CN" sz="2220"/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8059420" y="1692910"/>
            <a:ext cx="3525520" cy="47498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just"/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公司白领</a:t>
            </a:r>
            <a:r>
              <a:rPr lang="en-US" altLang="zh-CN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+</a:t>
            </a: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一人公司</a:t>
            </a:r>
            <a:r>
              <a:rPr lang="en-US" altLang="zh-CN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初创公司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  <a:p>
            <a:pPr algn="just"/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rPr>
              <a:t>White-collar worker+One-person  / Startup company</a:t>
            </a:r>
            <a:endParaRPr lang="en-US" altLang="zh-CN" sz="2000" b="1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8650605" y="2242185"/>
            <a:ext cx="2931795" cy="12674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0" algn="just" fontAlgn="auto">
              <a:lnSpc>
                <a:spcPct val="140000"/>
              </a:lnSpc>
            </a:pP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会议记录</a:t>
            </a:r>
            <a:r>
              <a:rPr lang="en-US" altLang="zh-CN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；</a:t>
            </a:r>
            <a:endParaRPr lang="en-US" altLang="zh-CN"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工作流</a:t>
            </a:r>
            <a:r>
              <a:rPr lang="en-US" altLang="zh-CN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；</a:t>
            </a:r>
            <a:endParaRPr lang="en-US" altLang="zh-CN"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PPT;PDF;DOC;EXCEL;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绘图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修图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；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行业数据分析及建议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；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algn="just" fontAlgn="auto">
              <a:lnSpc>
                <a:spcPct val="140000"/>
              </a:lnSpc>
            </a:pP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Meeting minutes;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Workflow;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PPT; PDF; DOC; EXCEL;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Drawing/Photo Editing;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Industry Data Analysis and Suggestions;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16560" y="1903730"/>
            <a:ext cx="2896235" cy="47498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sz="2000" b="1">
                <a:solidFill>
                  <a:schemeClr val="accent1"/>
                </a:solidFill>
              </a:rPr>
              <a:t>学生</a:t>
            </a:r>
            <a:r>
              <a:rPr lang="en-US" altLang="zh-CN" sz="2000" b="1">
                <a:solidFill>
                  <a:schemeClr val="accent1"/>
                </a:solidFill>
              </a:rPr>
              <a:t>+</a:t>
            </a:r>
            <a:r>
              <a:rPr lang="zh-CN" altLang="en-US" sz="2000" b="1">
                <a:solidFill>
                  <a:schemeClr val="accent1"/>
                </a:solidFill>
              </a:rPr>
              <a:t>家长</a:t>
            </a:r>
            <a:endParaRPr lang="zh-CN" altLang="en-US" sz="2000" b="1">
              <a:solidFill>
                <a:schemeClr val="accent1"/>
              </a:solidFill>
            </a:endParaRPr>
          </a:p>
          <a:p>
            <a:pPr algn="ctr"/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students and parents</a:t>
            </a:r>
            <a:endParaRPr lang="en-US" altLang="zh-CN" sz="2000" b="1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604520" y="2427605"/>
            <a:ext cx="2931795" cy="12674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0" algn="l" fontAlgn="auto">
              <a:lnSpc>
                <a:spcPct val="14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错题库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+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加练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；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试卷评分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；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</a:pP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PPT;PDF;DOC;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考试倒计时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；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</a:pP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</a:pP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Error question bank + additional practice;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</a:pP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Test score evaluation;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</a:pP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PPT; PDF; DOC;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</a:pP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Exam countdown；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3" name="Freeform 5"/>
          <p:cNvSpPr/>
          <p:nvPr>
            <p:custDataLst>
              <p:tags r:id="rId6"/>
            </p:custDataLst>
          </p:nvPr>
        </p:nvSpPr>
        <p:spPr bwMode="auto">
          <a:xfrm>
            <a:off x="3850005" y="3321050"/>
            <a:ext cx="2254250" cy="2799080"/>
          </a:xfrm>
          <a:custGeom>
            <a:avLst/>
            <a:gdLst>
              <a:gd name="T0" fmla="*/ 283 w 415"/>
              <a:gd name="T1" fmla="*/ 241 h 515"/>
              <a:gd name="T2" fmla="*/ 283 w 415"/>
              <a:gd name="T3" fmla="*/ 235 h 515"/>
              <a:gd name="T4" fmla="*/ 144 w 415"/>
              <a:gd name="T5" fmla="*/ 0 h 515"/>
              <a:gd name="T6" fmla="*/ 0 w 415"/>
              <a:gd name="T7" fmla="*/ 241 h 515"/>
              <a:gd name="T8" fmla="*/ 274 w 415"/>
              <a:gd name="T9" fmla="*/ 515 h 515"/>
              <a:gd name="T10" fmla="*/ 415 w 415"/>
              <a:gd name="T11" fmla="*/ 476 h 515"/>
              <a:gd name="T12" fmla="*/ 283 w 415"/>
              <a:gd name="T13" fmla="*/ 241 h 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5" h="515">
                <a:moveTo>
                  <a:pt x="283" y="241"/>
                </a:moveTo>
                <a:cubicBezTo>
                  <a:pt x="283" y="239"/>
                  <a:pt x="283" y="237"/>
                  <a:pt x="283" y="235"/>
                </a:cubicBezTo>
                <a:cubicBezTo>
                  <a:pt x="201" y="189"/>
                  <a:pt x="145" y="101"/>
                  <a:pt x="144" y="0"/>
                </a:cubicBezTo>
                <a:cubicBezTo>
                  <a:pt x="59" y="46"/>
                  <a:pt x="0" y="137"/>
                  <a:pt x="0" y="241"/>
                </a:cubicBezTo>
                <a:cubicBezTo>
                  <a:pt x="0" y="392"/>
                  <a:pt x="123" y="515"/>
                  <a:pt x="274" y="515"/>
                </a:cubicBezTo>
                <a:cubicBezTo>
                  <a:pt x="325" y="515"/>
                  <a:pt x="374" y="500"/>
                  <a:pt x="415" y="476"/>
                </a:cubicBezTo>
                <a:cubicBezTo>
                  <a:pt x="336" y="428"/>
                  <a:pt x="283" y="341"/>
                  <a:pt x="283" y="2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6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spcBef>
                <a:spcPts val="1000"/>
              </a:spcBef>
              <a:buClrTx/>
              <a:buSzTx/>
              <a:buFontTx/>
            </a:pPr>
            <a:endParaRPr lang="en-US" sz="2400" dirty="0">
              <a:solidFill>
                <a:schemeClr val="bg1"/>
              </a:solidFill>
              <a:latin typeface="思源黑体 CN Bold"/>
              <a:ea typeface="思源黑体 CN Bold"/>
              <a:sym typeface="+mn-ea"/>
            </a:endParaRPr>
          </a:p>
        </p:txBody>
      </p:sp>
      <p:sp>
        <p:nvSpPr>
          <p:cNvPr id="14" name="Freeform 6"/>
          <p:cNvSpPr/>
          <p:nvPr>
            <p:custDataLst>
              <p:tags r:id="rId7"/>
            </p:custDataLst>
          </p:nvPr>
        </p:nvSpPr>
        <p:spPr bwMode="auto">
          <a:xfrm>
            <a:off x="6086475" y="3336925"/>
            <a:ext cx="2255520" cy="2783205"/>
          </a:xfrm>
          <a:custGeom>
            <a:avLst/>
            <a:gdLst>
              <a:gd name="T0" fmla="*/ 277 w 415"/>
              <a:gd name="T1" fmla="*/ 0 h 512"/>
              <a:gd name="T2" fmla="*/ 132 w 415"/>
              <a:gd name="T3" fmla="*/ 235 h 512"/>
              <a:gd name="T4" fmla="*/ 132 w 415"/>
              <a:gd name="T5" fmla="*/ 238 h 512"/>
              <a:gd name="T6" fmla="*/ 0 w 415"/>
              <a:gd name="T7" fmla="*/ 473 h 512"/>
              <a:gd name="T8" fmla="*/ 141 w 415"/>
              <a:gd name="T9" fmla="*/ 512 h 512"/>
              <a:gd name="T10" fmla="*/ 415 w 415"/>
              <a:gd name="T11" fmla="*/ 238 h 512"/>
              <a:gd name="T12" fmla="*/ 277 w 415"/>
              <a:gd name="T13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5" h="512">
                <a:moveTo>
                  <a:pt x="277" y="0"/>
                </a:moveTo>
                <a:cubicBezTo>
                  <a:pt x="274" y="102"/>
                  <a:pt x="217" y="190"/>
                  <a:pt x="132" y="235"/>
                </a:cubicBezTo>
                <a:cubicBezTo>
                  <a:pt x="132" y="236"/>
                  <a:pt x="132" y="237"/>
                  <a:pt x="132" y="238"/>
                </a:cubicBezTo>
                <a:cubicBezTo>
                  <a:pt x="132" y="338"/>
                  <a:pt x="79" y="425"/>
                  <a:pt x="0" y="473"/>
                </a:cubicBezTo>
                <a:cubicBezTo>
                  <a:pt x="41" y="497"/>
                  <a:pt x="90" y="512"/>
                  <a:pt x="141" y="512"/>
                </a:cubicBezTo>
                <a:cubicBezTo>
                  <a:pt x="292" y="512"/>
                  <a:pt x="415" y="389"/>
                  <a:pt x="415" y="238"/>
                </a:cubicBezTo>
                <a:cubicBezTo>
                  <a:pt x="415" y="136"/>
                  <a:pt x="359" y="47"/>
                  <a:pt x="27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6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Bef>
                <a:spcPts val="1000"/>
              </a:spcBef>
            </a:pPr>
            <a:endParaRPr lang="en-US" sz="2400" dirty="0">
              <a:solidFill>
                <a:schemeClr val="bg1"/>
              </a:solidFill>
              <a:latin typeface="思源黑体 CN Bold"/>
              <a:ea typeface="思源黑体 CN Bold"/>
            </a:endParaRPr>
          </a:p>
        </p:txBody>
      </p:sp>
      <p:sp useBgFill="1">
        <p:nvSpPr>
          <p:cNvPr id="15" name="Freeform 7"/>
          <p:cNvSpPr/>
          <p:nvPr>
            <p:custDataLst>
              <p:tags r:id="rId8"/>
            </p:custDataLst>
          </p:nvPr>
        </p:nvSpPr>
        <p:spPr bwMode="auto">
          <a:xfrm>
            <a:off x="5379085" y="4597400"/>
            <a:ext cx="1434465" cy="1310640"/>
          </a:xfrm>
          <a:custGeom>
            <a:avLst/>
            <a:gdLst>
              <a:gd name="T0" fmla="*/ 264 w 264"/>
              <a:gd name="T1" fmla="*/ 6 h 241"/>
              <a:gd name="T2" fmla="*/ 264 w 264"/>
              <a:gd name="T3" fmla="*/ 3 h 241"/>
              <a:gd name="T4" fmla="*/ 135 w 264"/>
              <a:gd name="T5" fmla="*/ 36 h 241"/>
              <a:gd name="T6" fmla="*/ 0 w 264"/>
              <a:gd name="T7" fmla="*/ 0 h 241"/>
              <a:gd name="T8" fmla="*/ 0 w 264"/>
              <a:gd name="T9" fmla="*/ 6 h 241"/>
              <a:gd name="T10" fmla="*/ 132 w 264"/>
              <a:gd name="T11" fmla="*/ 241 h 241"/>
              <a:gd name="T12" fmla="*/ 264 w 264"/>
              <a:gd name="T13" fmla="*/ 6 h 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4" h="241">
                <a:moveTo>
                  <a:pt x="264" y="6"/>
                </a:moveTo>
                <a:cubicBezTo>
                  <a:pt x="264" y="5"/>
                  <a:pt x="264" y="4"/>
                  <a:pt x="264" y="3"/>
                </a:cubicBezTo>
                <a:cubicBezTo>
                  <a:pt x="226" y="24"/>
                  <a:pt x="182" y="36"/>
                  <a:pt x="135" y="36"/>
                </a:cubicBezTo>
                <a:cubicBezTo>
                  <a:pt x="86" y="36"/>
                  <a:pt x="40" y="23"/>
                  <a:pt x="0" y="0"/>
                </a:cubicBezTo>
                <a:cubicBezTo>
                  <a:pt x="0" y="2"/>
                  <a:pt x="0" y="4"/>
                  <a:pt x="0" y="6"/>
                </a:cubicBezTo>
                <a:cubicBezTo>
                  <a:pt x="0" y="106"/>
                  <a:pt x="53" y="193"/>
                  <a:pt x="132" y="241"/>
                </a:cubicBezTo>
                <a:cubicBezTo>
                  <a:pt x="211" y="193"/>
                  <a:pt x="264" y="106"/>
                  <a:pt x="264" y="6"/>
                </a:cubicBezTo>
                <a:close/>
              </a:path>
            </a:pathLst>
          </a:custGeom>
          <a:ln w="38100">
            <a:noFill/>
          </a:ln>
          <a:effectLst>
            <a:outerShdw blurRad="3175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p>
            <a:pPr algn="ctr">
              <a:spcBef>
                <a:spcPts val="1000"/>
              </a:spcBef>
            </a:pPr>
            <a:endParaRPr lang="en-US" sz="2800" dirty="0">
              <a:solidFill>
                <a:schemeClr val="bg1"/>
              </a:solidFill>
              <a:latin typeface="思源黑体 CN Bold"/>
              <a:ea typeface="思源黑体 CN Bold"/>
            </a:endParaRPr>
          </a:p>
        </p:txBody>
      </p:sp>
      <p:sp>
        <p:nvSpPr>
          <p:cNvPr id="16" name="Freeform 8"/>
          <p:cNvSpPr/>
          <p:nvPr>
            <p:custDataLst>
              <p:tags r:id="rId9"/>
            </p:custDataLst>
          </p:nvPr>
        </p:nvSpPr>
        <p:spPr bwMode="auto">
          <a:xfrm>
            <a:off x="4625975" y="1821180"/>
            <a:ext cx="2976880" cy="1537970"/>
          </a:xfrm>
          <a:custGeom>
            <a:avLst/>
            <a:gdLst>
              <a:gd name="T0" fmla="*/ 271 w 548"/>
              <a:gd name="T1" fmla="*/ 283 h 283"/>
              <a:gd name="T2" fmla="*/ 412 w 548"/>
              <a:gd name="T3" fmla="*/ 244 h 283"/>
              <a:gd name="T4" fmla="*/ 548 w 548"/>
              <a:gd name="T5" fmla="*/ 279 h 283"/>
              <a:gd name="T6" fmla="*/ 548 w 548"/>
              <a:gd name="T7" fmla="*/ 273 h 283"/>
              <a:gd name="T8" fmla="*/ 274 w 548"/>
              <a:gd name="T9" fmla="*/ 0 h 283"/>
              <a:gd name="T10" fmla="*/ 0 w 548"/>
              <a:gd name="T11" fmla="*/ 273 h 283"/>
              <a:gd name="T12" fmla="*/ 0 w 548"/>
              <a:gd name="T13" fmla="*/ 276 h 283"/>
              <a:gd name="T14" fmla="*/ 130 w 548"/>
              <a:gd name="T15" fmla="*/ 244 h 283"/>
              <a:gd name="T16" fmla="*/ 271 w 548"/>
              <a:gd name="T17" fmla="*/ 283 h 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48" h="283">
                <a:moveTo>
                  <a:pt x="271" y="283"/>
                </a:moveTo>
                <a:cubicBezTo>
                  <a:pt x="312" y="258"/>
                  <a:pt x="361" y="244"/>
                  <a:pt x="412" y="244"/>
                </a:cubicBezTo>
                <a:cubicBezTo>
                  <a:pt x="461" y="244"/>
                  <a:pt x="508" y="257"/>
                  <a:pt x="548" y="279"/>
                </a:cubicBezTo>
                <a:cubicBezTo>
                  <a:pt x="548" y="277"/>
                  <a:pt x="548" y="275"/>
                  <a:pt x="548" y="273"/>
                </a:cubicBezTo>
                <a:cubicBezTo>
                  <a:pt x="548" y="122"/>
                  <a:pt x="425" y="0"/>
                  <a:pt x="274" y="0"/>
                </a:cubicBezTo>
                <a:cubicBezTo>
                  <a:pt x="123" y="0"/>
                  <a:pt x="0" y="122"/>
                  <a:pt x="0" y="273"/>
                </a:cubicBezTo>
                <a:cubicBezTo>
                  <a:pt x="0" y="274"/>
                  <a:pt x="0" y="275"/>
                  <a:pt x="0" y="276"/>
                </a:cubicBezTo>
                <a:cubicBezTo>
                  <a:pt x="39" y="255"/>
                  <a:pt x="83" y="244"/>
                  <a:pt x="130" y="244"/>
                </a:cubicBezTo>
                <a:cubicBezTo>
                  <a:pt x="181" y="244"/>
                  <a:pt x="230" y="258"/>
                  <a:pt x="271" y="283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6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spcBef>
                <a:spcPts val="1000"/>
              </a:spcBef>
              <a:buClrTx/>
              <a:buSzTx/>
              <a:buFontTx/>
            </a:pPr>
            <a:endParaRPr lang="en-US" sz="2400" dirty="0">
              <a:solidFill>
                <a:schemeClr val="bg1"/>
              </a:solidFill>
              <a:latin typeface="思源黑体 CN Bold"/>
              <a:ea typeface="思源黑体 CN Bold"/>
              <a:sym typeface="+mn-ea"/>
            </a:endParaRPr>
          </a:p>
        </p:txBody>
      </p:sp>
      <p:sp useBgFill="1">
        <p:nvSpPr>
          <p:cNvPr id="18" name="Freeform 9"/>
          <p:cNvSpPr/>
          <p:nvPr>
            <p:custDataLst>
              <p:tags r:id="rId10"/>
            </p:custDataLst>
          </p:nvPr>
        </p:nvSpPr>
        <p:spPr bwMode="auto">
          <a:xfrm>
            <a:off x="4625975" y="3147695"/>
            <a:ext cx="1471295" cy="1449705"/>
          </a:xfrm>
          <a:custGeom>
            <a:avLst/>
            <a:gdLst>
              <a:gd name="T0" fmla="*/ 139 w 271"/>
              <a:gd name="T1" fmla="*/ 267 h 267"/>
              <a:gd name="T2" fmla="*/ 271 w 271"/>
              <a:gd name="T3" fmla="*/ 39 h 267"/>
              <a:gd name="T4" fmla="*/ 130 w 271"/>
              <a:gd name="T5" fmla="*/ 0 h 267"/>
              <a:gd name="T6" fmla="*/ 0 w 271"/>
              <a:gd name="T7" fmla="*/ 32 h 267"/>
              <a:gd name="T8" fmla="*/ 139 w 271"/>
              <a:gd name="T9" fmla="*/ 267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1" h="267">
                <a:moveTo>
                  <a:pt x="139" y="267"/>
                </a:moveTo>
                <a:cubicBezTo>
                  <a:pt x="141" y="170"/>
                  <a:pt x="193" y="86"/>
                  <a:pt x="271" y="39"/>
                </a:cubicBezTo>
                <a:cubicBezTo>
                  <a:pt x="230" y="14"/>
                  <a:pt x="181" y="0"/>
                  <a:pt x="130" y="0"/>
                </a:cubicBezTo>
                <a:cubicBezTo>
                  <a:pt x="83" y="0"/>
                  <a:pt x="39" y="11"/>
                  <a:pt x="0" y="32"/>
                </a:cubicBezTo>
                <a:cubicBezTo>
                  <a:pt x="1" y="133"/>
                  <a:pt x="57" y="221"/>
                  <a:pt x="139" y="267"/>
                </a:cubicBezTo>
                <a:close/>
              </a:path>
            </a:pathLst>
          </a:custGeom>
          <a:ln w="38100">
            <a:noFill/>
          </a:ln>
          <a:effectLst>
            <a:outerShdw blurRad="3175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p>
            <a:pPr algn="ctr">
              <a:spcBef>
                <a:spcPts val="1000"/>
              </a:spcBef>
            </a:pPr>
            <a:endParaRPr lang="en-US" sz="2800" dirty="0">
              <a:solidFill>
                <a:schemeClr val="bg1"/>
              </a:solidFill>
              <a:latin typeface="思源黑体 CN Bold"/>
              <a:ea typeface="思源黑体 CN Bold"/>
            </a:endParaRPr>
          </a:p>
        </p:txBody>
      </p:sp>
      <p:sp useBgFill="1">
        <p:nvSpPr>
          <p:cNvPr id="19" name="Freeform 10"/>
          <p:cNvSpPr/>
          <p:nvPr>
            <p:custDataLst>
              <p:tags r:id="rId11"/>
            </p:custDataLst>
          </p:nvPr>
        </p:nvSpPr>
        <p:spPr bwMode="auto">
          <a:xfrm>
            <a:off x="6097270" y="3147695"/>
            <a:ext cx="1505585" cy="1466850"/>
          </a:xfrm>
          <a:custGeom>
            <a:avLst/>
            <a:gdLst>
              <a:gd name="T0" fmla="*/ 0 w 277"/>
              <a:gd name="T1" fmla="*/ 39 h 270"/>
              <a:gd name="T2" fmla="*/ 132 w 277"/>
              <a:gd name="T3" fmla="*/ 270 h 270"/>
              <a:gd name="T4" fmla="*/ 277 w 277"/>
              <a:gd name="T5" fmla="*/ 35 h 270"/>
              <a:gd name="T6" fmla="*/ 141 w 277"/>
              <a:gd name="T7" fmla="*/ 0 h 270"/>
              <a:gd name="T8" fmla="*/ 0 w 277"/>
              <a:gd name="T9" fmla="*/ 39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7" h="270">
                <a:moveTo>
                  <a:pt x="0" y="39"/>
                </a:moveTo>
                <a:cubicBezTo>
                  <a:pt x="79" y="86"/>
                  <a:pt x="131" y="172"/>
                  <a:pt x="132" y="270"/>
                </a:cubicBezTo>
                <a:cubicBezTo>
                  <a:pt x="217" y="225"/>
                  <a:pt x="274" y="137"/>
                  <a:pt x="277" y="35"/>
                </a:cubicBezTo>
                <a:cubicBezTo>
                  <a:pt x="237" y="13"/>
                  <a:pt x="190" y="0"/>
                  <a:pt x="141" y="0"/>
                </a:cubicBezTo>
                <a:cubicBezTo>
                  <a:pt x="90" y="0"/>
                  <a:pt x="41" y="14"/>
                  <a:pt x="0" y="39"/>
                </a:cubicBezTo>
                <a:close/>
              </a:path>
            </a:pathLst>
          </a:custGeom>
          <a:ln w="38100">
            <a:noFill/>
          </a:ln>
          <a:effectLst>
            <a:outerShdw blurRad="317500" dist="381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p>
            <a:pPr algn="ctr">
              <a:spcBef>
                <a:spcPts val="1000"/>
              </a:spcBef>
            </a:pPr>
            <a:endParaRPr lang="en-US" sz="2800" dirty="0">
              <a:solidFill>
                <a:schemeClr val="bg1"/>
              </a:solidFill>
              <a:latin typeface="思源黑体 CN Bold"/>
              <a:ea typeface="思源黑体 CN Bold"/>
            </a:endParaRPr>
          </a:p>
        </p:txBody>
      </p:sp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5396548" y="2512060"/>
            <a:ext cx="1435735" cy="3740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</a:rPr>
              <a:t>学生及家长</a:t>
            </a:r>
            <a:endParaRPr lang="zh-CN" altLang="en-US" sz="1400" b="1">
              <a:solidFill>
                <a:srgbClr val="FFFFFF"/>
              </a:solidFill>
            </a:endParaRPr>
          </a:p>
          <a:p>
            <a:pPr algn="ctr"/>
            <a:r>
              <a:rPr lang="en-US" altLang="zh-CN" sz="1400" b="1">
                <a:solidFill>
                  <a:srgbClr val="FFFFFF"/>
                </a:solidFill>
              </a:rPr>
              <a:t>students and parents</a:t>
            </a:r>
            <a:endParaRPr lang="en-US" altLang="zh-CN" sz="1400" b="1">
              <a:solidFill>
                <a:srgbClr val="FFFFFF"/>
              </a:solidFill>
            </a:endParaRPr>
          </a:p>
        </p:txBody>
      </p:sp>
      <p:sp>
        <p:nvSpPr>
          <p:cNvPr id="21" name="文本框 20"/>
          <p:cNvSpPr txBox="1"/>
          <p:nvPr>
            <p:custDataLst>
              <p:tags r:id="rId13"/>
            </p:custDataLst>
          </p:nvPr>
        </p:nvSpPr>
        <p:spPr>
          <a:xfrm>
            <a:off x="6739255" y="4765675"/>
            <a:ext cx="1435735" cy="3740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/>
            <a:r>
              <a:rPr lang="zh-CN" altLang="en-US" sz="14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一人公司</a:t>
            </a:r>
            <a:r>
              <a:rPr lang="en-US" altLang="zh-CN" sz="14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14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初创公司</a:t>
            </a:r>
            <a:r>
              <a:rPr lang="en-US" altLang="zh-CN" sz="14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One-person  / Startup company</a:t>
            </a:r>
            <a:endParaRPr lang="en-US" altLang="zh-CN" sz="1400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/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22" name="文本框 21"/>
          <p:cNvSpPr txBox="1"/>
          <p:nvPr>
            <p:custDataLst>
              <p:tags r:id="rId14"/>
            </p:custDataLst>
          </p:nvPr>
        </p:nvSpPr>
        <p:spPr>
          <a:xfrm>
            <a:off x="3997960" y="4841875"/>
            <a:ext cx="1435735" cy="3740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/>
            <a:r>
              <a:rPr lang="zh-CN" altLang="en-US" sz="14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公司白领</a:t>
            </a:r>
            <a:r>
              <a:rPr lang="en-US" altLang="zh-CN" sz="14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/White-collar worker</a:t>
            </a:r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15"/>
            </p:custDataLst>
          </p:nvPr>
        </p:nvSpPr>
        <p:spPr>
          <a:xfrm>
            <a:off x="5378450" y="3794760"/>
            <a:ext cx="1435735" cy="6400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PPT/PDF/DOC</a:t>
            </a:r>
            <a:r>
              <a:rPr lang="zh-CN" altLang="en-US" sz="2000" b="1">
                <a:solidFill>
                  <a:srgbClr val="C00000"/>
                </a:solidFill>
              </a:rPr>
              <a:t>…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pic>
        <p:nvPicPr>
          <p:cNvPr id="24" name="图片 23" descr="343439383331313b343532303031393bd2b5bca8b9dcc0ed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493260" y="4381500"/>
            <a:ext cx="288290" cy="288290"/>
          </a:xfrm>
          <a:prstGeom prst="rect">
            <a:avLst/>
          </a:prstGeom>
        </p:spPr>
      </p:pic>
      <p:pic>
        <p:nvPicPr>
          <p:cNvPr id="25" name="图片 24" descr="343439383331313b343532303032333bc6f3d2b5bcf2bde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70270" y="2038985"/>
            <a:ext cx="288290" cy="288290"/>
          </a:xfrm>
          <a:prstGeom prst="rect">
            <a:avLst/>
          </a:prstGeom>
        </p:spPr>
      </p:pic>
      <p:pic>
        <p:nvPicPr>
          <p:cNvPr id="26" name="图片 25" descr="343439383331313b343532303032373bbfcdbba7b5b5b0b8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411085" y="4343400"/>
            <a:ext cx="288290" cy="288290"/>
          </a:xfrm>
          <a:prstGeom prst="rect">
            <a:avLst/>
          </a:prstGeom>
        </p:spPr>
      </p:pic>
    </p:spTree>
    <p:custDataLst>
      <p:tags r:id="rId2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任意多边形: 形状 45"/>
          <p:cNvSpPr/>
          <p:nvPr>
            <p:custDataLst>
              <p:tags r:id="rId1"/>
            </p:custDataLst>
          </p:nvPr>
        </p:nvSpPr>
        <p:spPr>
          <a:xfrm>
            <a:off x="5809554" y="4578838"/>
            <a:ext cx="2719539" cy="1430389"/>
          </a:xfrm>
          <a:custGeom>
            <a:avLst/>
            <a:gdLst>
              <a:gd name="connsiteX0" fmla="*/ 1334340 w 2668680"/>
              <a:gd name="connsiteY0" fmla="*/ 1534736 h 1534735"/>
              <a:gd name="connsiteX1" fmla="*/ 0 w 2668680"/>
              <a:gd name="connsiteY1" fmla="*/ 757593 h 1534735"/>
              <a:gd name="connsiteX2" fmla="*/ 1334340 w 2668680"/>
              <a:gd name="connsiteY2" fmla="*/ 0 h 1534735"/>
              <a:gd name="connsiteX3" fmla="*/ 2668681 w 2668680"/>
              <a:gd name="connsiteY3" fmla="*/ 762480 h 153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8680" h="1534735">
                <a:moveTo>
                  <a:pt x="1334340" y="1534736"/>
                </a:moveTo>
                <a:lnTo>
                  <a:pt x="0" y="757593"/>
                </a:lnTo>
                <a:lnTo>
                  <a:pt x="1334340" y="0"/>
                </a:lnTo>
                <a:lnTo>
                  <a:pt x="2668681" y="762480"/>
                </a:lnTo>
                <a:close/>
              </a:path>
            </a:pathLst>
          </a:custGeom>
          <a:gradFill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 w="1629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2" name="任意多边形: 形状 51"/>
          <p:cNvSpPr/>
          <p:nvPr>
            <p:custDataLst>
              <p:tags r:id="rId2"/>
            </p:custDataLst>
          </p:nvPr>
        </p:nvSpPr>
        <p:spPr>
          <a:xfrm>
            <a:off x="6330881" y="4850642"/>
            <a:ext cx="1676883" cy="886781"/>
          </a:xfrm>
          <a:custGeom>
            <a:avLst/>
            <a:gdLst>
              <a:gd name="connsiteX0" fmla="*/ 826020 w 1645523"/>
              <a:gd name="connsiteY0" fmla="*/ 951471 h 951471"/>
              <a:gd name="connsiteX1" fmla="*/ 0 w 1645523"/>
              <a:gd name="connsiteY1" fmla="*/ 457814 h 951471"/>
              <a:gd name="connsiteX2" fmla="*/ 817874 w 1645523"/>
              <a:gd name="connsiteY2" fmla="*/ 0 h 951471"/>
              <a:gd name="connsiteX3" fmla="*/ 1645523 w 1645523"/>
              <a:gd name="connsiteY3" fmla="*/ 469219 h 951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5523" h="951471">
                <a:moveTo>
                  <a:pt x="826020" y="951471"/>
                </a:moveTo>
                <a:lnTo>
                  <a:pt x="0" y="457814"/>
                </a:lnTo>
                <a:lnTo>
                  <a:pt x="817874" y="0"/>
                </a:lnTo>
                <a:lnTo>
                  <a:pt x="1645523" y="469219"/>
                </a:lnTo>
                <a:close/>
              </a:path>
            </a:pathLst>
          </a:custGeom>
          <a:solidFill>
            <a:srgbClr val="FFFFFF"/>
          </a:solidFill>
          <a:ln w="1629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3" name="任意多边形: 形状 52"/>
          <p:cNvSpPr/>
          <p:nvPr>
            <p:custDataLst>
              <p:tags r:id="rId3"/>
            </p:custDataLst>
          </p:nvPr>
        </p:nvSpPr>
        <p:spPr>
          <a:xfrm>
            <a:off x="7169323" y="3099857"/>
            <a:ext cx="2717878" cy="1430389"/>
          </a:xfrm>
          <a:custGeom>
            <a:avLst/>
            <a:gdLst>
              <a:gd name="connsiteX0" fmla="*/ 1334340 w 2667051"/>
              <a:gd name="connsiteY0" fmla="*/ 1534736 h 1534735"/>
              <a:gd name="connsiteX1" fmla="*/ 0 w 2667051"/>
              <a:gd name="connsiteY1" fmla="*/ 757592 h 1534735"/>
              <a:gd name="connsiteX2" fmla="*/ 1334340 w 2667051"/>
              <a:gd name="connsiteY2" fmla="*/ 0 h 1534735"/>
              <a:gd name="connsiteX3" fmla="*/ 2667052 w 2667051"/>
              <a:gd name="connsiteY3" fmla="*/ 764110 h 153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7051" h="1534735">
                <a:moveTo>
                  <a:pt x="1334340" y="1534736"/>
                </a:moveTo>
                <a:lnTo>
                  <a:pt x="0" y="757592"/>
                </a:lnTo>
                <a:lnTo>
                  <a:pt x="1334340" y="0"/>
                </a:lnTo>
                <a:lnTo>
                  <a:pt x="2667052" y="764110"/>
                </a:lnTo>
                <a:close/>
              </a:path>
            </a:pathLst>
          </a:custGeom>
          <a:gradFill>
            <a:gsLst>
              <a:gs pos="42000">
                <a:srgbClr val="EC5763"/>
              </a:gs>
              <a:gs pos="0">
                <a:srgbClr val="F28F97"/>
              </a:gs>
              <a:gs pos="100000">
                <a:srgbClr val="E51E2E"/>
              </a:gs>
            </a:gsLst>
            <a:lin ang="5400000" scaled="1"/>
          </a:gradFill>
          <a:ln w="1629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4" name="任意多边形: 形状 53"/>
          <p:cNvSpPr/>
          <p:nvPr>
            <p:custDataLst>
              <p:tags r:id="rId4"/>
            </p:custDataLst>
          </p:nvPr>
        </p:nvSpPr>
        <p:spPr>
          <a:xfrm>
            <a:off x="7690651" y="3371661"/>
            <a:ext cx="1676883" cy="886780"/>
          </a:xfrm>
          <a:custGeom>
            <a:avLst/>
            <a:gdLst>
              <a:gd name="connsiteX0" fmla="*/ 826020 w 1645523"/>
              <a:gd name="connsiteY0" fmla="*/ 951471 h 951470"/>
              <a:gd name="connsiteX1" fmla="*/ 0 w 1645523"/>
              <a:gd name="connsiteY1" fmla="*/ 459443 h 951470"/>
              <a:gd name="connsiteX2" fmla="*/ 817874 w 1645523"/>
              <a:gd name="connsiteY2" fmla="*/ 0 h 951470"/>
              <a:gd name="connsiteX3" fmla="*/ 1645523 w 1645523"/>
              <a:gd name="connsiteY3" fmla="*/ 470848 h 95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5523" h="951470">
                <a:moveTo>
                  <a:pt x="826020" y="951471"/>
                </a:moveTo>
                <a:lnTo>
                  <a:pt x="0" y="459443"/>
                </a:lnTo>
                <a:lnTo>
                  <a:pt x="817874" y="0"/>
                </a:lnTo>
                <a:lnTo>
                  <a:pt x="1645523" y="470848"/>
                </a:lnTo>
                <a:close/>
              </a:path>
            </a:pathLst>
          </a:custGeom>
          <a:solidFill>
            <a:srgbClr val="FFFFFF"/>
          </a:solidFill>
          <a:ln w="1629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7" name="任意多边形: 形状 56"/>
          <p:cNvSpPr/>
          <p:nvPr>
            <p:custDataLst>
              <p:tags r:id="rId5"/>
            </p:custDataLst>
          </p:nvPr>
        </p:nvSpPr>
        <p:spPr>
          <a:xfrm>
            <a:off x="8529093" y="1620877"/>
            <a:ext cx="2717878" cy="1430389"/>
          </a:xfrm>
          <a:custGeom>
            <a:avLst/>
            <a:gdLst>
              <a:gd name="connsiteX0" fmla="*/ 1332711 w 2667051"/>
              <a:gd name="connsiteY0" fmla="*/ 1534736 h 1534735"/>
              <a:gd name="connsiteX1" fmla="*/ 0 w 2667051"/>
              <a:gd name="connsiteY1" fmla="*/ 759222 h 1534735"/>
              <a:gd name="connsiteX2" fmla="*/ 1332711 w 2667051"/>
              <a:gd name="connsiteY2" fmla="*/ 0 h 1534735"/>
              <a:gd name="connsiteX3" fmla="*/ 2667051 w 2667051"/>
              <a:gd name="connsiteY3" fmla="*/ 764110 h 153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7051" h="1534735">
                <a:moveTo>
                  <a:pt x="1332711" y="1534736"/>
                </a:moveTo>
                <a:lnTo>
                  <a:pt x="0" y="759222"/>
                </a:lnTo>
                <a:lnTo>
                  <a:pt x="1332711" y="0"/>
                </a:lnTo>
                <a:lnTo>
                  <a:pt x="2667051" y="764110"/>
                </a:lnTo>
                <a:close/>
              </a:path>
            </a:pathLst>
          </a:custGeom>
          <a:gradFill>
            <a:gsLst>
              <a:gs pos="42000">
                <a:srgbClr val="EC5763"/>
              </a:gs>
              <a:gs pos="0">
                <a:srgbClr val="F28F97"/>
              </a:gs>
              <a:gs pos="100000">
                <a:srgbClr val="E51E2E"/>
              </a:gs>
            </a:gsLst>
            <a:lin ang="5400000" scaled="1"/>
          </a:gradFill>
          <a:ln w="1629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0" name="任意多边形: 形状 59"/>
          <p:cNvSpPr/>
          <p:nvPr>
            <p:custDataLst>
              <p:tags r:id="rId6"/>
            </p:custDataLst>
          </p:nvPr>
        </p:nvSpPr>
        <p:spPr>
          <a:xfrm>
            <a:off x="9048760" y="1892681"/>
            <a:ext cx="1678543" cy="886781"/>
          </a:xfrm>
          <a:custGeom>
            <a:avLst/>
            <a:gdLst>
              <a:gd name="connsiteX0" fmla="*/ 827649 w 1647152"/>
              <a:gd name="connsiteY0" fmla="*/ 951471 h 951471"/>
              <a:gd name="connsiteX1" fmla="*/ 0 w 1647152"/>
              <a:gd name="connsiteY1" fmla="*/ 459443 h 951471"/>
              <a:gd name="connsiteX2" fmla="*/ 819503 w 1647152"/>
              <a:gd name="connsiteY2" fmla="*/ 0 h 951471"/>
              <a:gd name="connsiteX3" fmla="*/ 1647153 w 1647152"/>
              <a:gd name="connsiteY3" fmla="*/ 470848 h 951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7152" h="951471">
                <a:moveTo>
                  <a:pt x="827649" y="951471"/>
                </a:moveTo>
                <a:lnTo>
                  <a:pt x="0" y="459443"/>
                </a:lnTo>
                <a:lnTo>
                  <a:pt x="819503" y="0"/>
                </a:lnTo>
                <a:lnTo>
                  <a:pt x="1647153" y="470848"/>
                </a:lnTo>
                <a:close/>
              </a:path>
            </a:pathLst>
          </a:custGeom>
          <a:solidFill>
            <a:srgbClr val="FFFFFF"/>
          </a:solidFill>
          <a:ln w="1629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1" name="任意多边形: 形状 60"/>
          <p:cNvSpPr/>
          <p:nvPr>
            <p:custDataLst>
              <p:tags r:id="rId7"/>
            </p:custDataLst>
          </p:nvPr>
        </p:nvSpPr>
        <p:spPr>
          <a:xfrm>
            <a:off x="7166783" y="3801496"/>
            <a:ext cx="1359769" cy="1483536"/>
          </a:xfrm>
          <a:custGeom>
            <a:avLst/>
            <a:gdLst>
              <a:gd name="connsiteX0" fmla="*/ 0 w 1334340"/>
              <a:gd name="connsiteY0" fmla="*/ 0 h 1591759"/>
              <a:gd name="connsiteX1" fmla="*/ 0 w 1334340"/>
              <a:gd name="connsiteY1" fmla="*/ 829279 h 1591759"/>
              <a:gd name="connsiteX2" fmla="*/ 1334340 w 1334340"/>
              <a:gd name="connsiteY2" fmla="*/ 1591759 h 1591759"/>
              <a:gd name="connsiteX3" fmla="*/ 1334340 w 1334340"/>
              <a:gd name="connsiteY3" fmla="*/ 777144 h 1591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4340" h="1591759">
                <a:moveTo>
                  <a:pt x="0" y="0"/>
                </a:moveTo>
                <a:lnTo>
                  <a:pt x="0" y="829279"/>
                </a:lnTo>
                <a:lnTo>
                  <a:pt x="1334340" y="1591759"/>
                </a:lnTo>
                <a:lnTo>
                  <a:pt x="1334340" y="777144"/>
                </a:lnTo>
                <a:close/>
              </a:path>
            </a:pathLst>
          </a:custGeom>
          <a:solidFill>
            <a:schemeClr val="tx1">
              <a:lumMod val="25000"/>
              <a:lumOff val="75000"/>
              <a:alpha val="25000"/>
            </a:schemeClr>
          </a:solidFill>
          <a:ln w="1629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2" name="任意多边形: 形状 61"/>
          <p:cNvSpPr/>
          <p:nvPr>
            <p:custDataLst>
              <p:tags r:id="rId8"/>
            </p:custDataLst>
          </p:nvPr>
        </p:nvSpPr>
        <p:spPr>
          <a:xfrm>
            <a:off x="8529093" y="2328479"/>
            <a:ext cx="1358109" cy="1483535"/>
          </a:xfrm>
          <a:custGeom>
            <a:avLst/>
            <a:gdLst>
              <a:gd name="connsiteX0" fmla="*/ 0 w 1332711"/>
              <a:gd name="connsiteY0" fmla="*/ 0 h 1591758"/>
              <a:gd name="connsiteX1" fmla="*/ 0 w 1332711"/>
              <a:gd name="connsiteY1" fmla="*/ 827650 h 1591758"/>
              <a:gd name="connsiteX2" fmla="*/ 1332711 w 1332711"/>
              <a:gd name="connsiteY2" fmla="*/ 1591759 h 1591758"/>
              <a:gd name="connsiteX3" fmla="*/ 1332711 w 1332711"/>
              <a:gd name="connsiteY3" fmla="*/ 775514 h 1591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2711" h="1591758">
                <a:moveTo>
                  <a:pt x="0" y="0"/>
                </a:moveTo>
                <a:lnTo>
                  <a:pt x="0" y="827650"/>
                </a:lnTo>
                <a:lnTo>
                  <a:pt x="1332711" y="1591759"/>
                </a:lnTo>
                <a:lnTo>
                  <a:pt x="1332711" y="775514"/>
                </a:lnTo>
                <a:close/>
              </a:path>
            </a:pathLst>
          </a:custGeom>
          <a:solidFill>
            <a:schemeClr val="tx1">
              <a:lumMod val="25000"/>
              <a:lumOff val="75000"/>
              <a:alpha val="25000"/>
            </a:schemeClr>
          </a:solidFill>
          <a:ln w="1629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3" name="任意多边形: 形状 62"/>
          <p:cNvSpPr/>
          <p:nvPr>
            <p:custDataLst>
              <p:tags r:id="rId9"/>
            </p:custDataLst>
          </p:nvPr>
        </p:nvSpPr>
        <p:spPr>
          <a:xfrm>
            <a:off x="7169323" y="2333035"/>
            <a:ext cx="4077648" cy="3864481"/>
          </a:xfrm>
          <a:custGeom>
            <a:avLst/>
            <a:gdLst>
              <a:gd name="connsiteX0" fmla="*/ 2667052 w 4001391"/>
              <a:gd name="connsiteY0" fmla="*/ 772256 h 4146393"/>
              <a:gd name="connsiteX1" fmla="*/ 2667052 w 4001391"/>
              <a:gd name="connsiteY1" fmla="*/ 1586871 h 4146393"/>
              <a:gd name="connsiteX2" fmla="*/ 1334340 w 4001391"/>
              <a:gd name="connsiteY2" fmla="*/ 2357498 h 4146393"/>
              <a:gd name="connsiteX3" fmla="*/ 1334340 w 4001391"/>
              <a:gd name="connsiteY3" fmla="*/ 3172113 h 4146393"/>
              <a:gd name="connsiteX4" fmla="*/ 0 w 4001391"/>
              <a:gd name="connsiteY4" fmla="*/ 3944369 h 4146393"/>
              <a:gd name="connsiteX5" fmla="*/ 0 w 4001391"/>
              <a:gd name="connsiteY5" fmla="*/ 4146393 h 4146393"/>
              <a:gd name="connsiteX6" fmla="*/ 1502151 w 4001391"/>
              <a:gd name="connsiteY6" fmla="*/ 3273126 h 4146393"/>
              <a:gd name="connsiteX7" fmla="*/ 1502151 w 4001391"/>
              <a:gd name="connsiteY7" fmla="*/ 2456881 h 4146393"/>
              <a:gd name="connsiteX8" fmla="*/ 2825087 w 4001391"/>
              <a:gd name="connsiteY8" fmla="*/ 1687884 h 4146393"/>
              <a:gd name="connsiteX9" fmla="*/ 2825087 w 4001391"/>
              <a:gd name="connsiteY9" fmla="*/ 863493 h 4146393"/>
              <a:gd name="connsiteX10" fmla="*/ 4001392 w 4001391"/>
              <a:gd name="connsiteY10" fmla="*/ 190620 h 4146393"/>
              <a:gd name="connsiteX11" fmla="*/ 4001392 w 4001391"/>
              <a:gd name="connsiteY11" fmla="*/ 0 h 4146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01391" h="4146393">
                <a:moveTo>
                  <a:pt x="2667052" y="772256"/>
                </a:moveTo>
                <a:lnTo>
                  <a:pt x="2667052" y="1586871"/>
                </a:lnTo>
                <a:lnTo>
                  <a:pt x="1334340" y="2357498"/>
                </a:lnTo>
                <a:lnTo>
                  <a:pt x="1334340" y="3172113"/>
                </a:lnTo>
                <a:lnTo>
                  <a:pt x="0" y="3944369"/>
                </a:lnTo>
                <a:lnTo>
                  <a:pt x="0" y="4146393"/>
                </a:lnTo>
                <a:lnTo>
                  <a:pt x="1502151" y="3273126"/>
                </a:lnTo>
                <a:lnTo>
                  <a:pt x="1502151" y="2456881"/>
                </a:lnTo>
                <a:lnTo>
                  <a:pt x="2825087" y="1687884"/>
                </a:lnTo>
                <a:lnTo>
                  <a:pt x="2825087" y="863493"/>
                </a:lnTo>
                <a:lnTo>
                  <a:pt x="4001392" y="190620"/>
                </a:lnTo>
                <a:lnTo>
                  <a:pt x="4001392" y="0"/>
                </a:lnTo>
                <a:close/>
              </a:path>
            </a:pathLst>
          </a:custGeom>
          <a:solidFill>
            <a:schemeClr val="tx1">
              <a:lumMod val="35000"/>
              <a:lumOff val="65000"/>
              <a:alpha val="35000"/>
            </a:schemeClr>
          </a:solidFill>
          <a:ln w="1629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4" name="任意多边形: 形状 63"/>
          <p:cNvSpPr/>
          <p:nvPr>
            <p:custDataLst>
              <p:tags r:id="rId10"/>
            </p:custDataLst>
          </p:nvPr>
        </p:nvSpPr>
        <p:spPr>
          <a:xfrm>
            <a:off x="5809554" y="5284921"/>
            <a:ext cx="1359769" cy="912594"/>
          </a:xfrm>
          <a:custGeom>
            <a:avLst/>
            <a:gdLst>
              <a:gd name="connsiteX0" fmla="*/ 1334340 w 1334340"/>
              <a:gd name="connsiteY0" fmla="*/ 777143 h 979167"/>
              <a:gd name="connsiteX1" fmla="*/ 0 w 1334340"/>
              <a:gd name="connsiteY1" fmla="*/ 0 h 979167"/>
              <a:gd name="connsiteX2" fmla="*/ 0 w 1334340"/>
              <a:gd name="connsiteY2" fmla="*/ 215058 h 979167"/>
              <a:gd name="connsiteX3" fmla="*/ 1334340 w 1334340"/>
              <a:gd name="connsiteY3" fmla="*/ 979168 h 979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4340" h="979167">
                <a:moveTo>
                  <a:pt x="1334340" y="777143"/>
                </a:moveTo>
                <a:lnTo>
                  <a:pt x="0" y="0"/>
                </a:lnTo>
                <a:lnTo>
                  <a:pt x="0" y="215058"/>
                </a:lnTo>
                <a:lnTo>
                  <a:pt x="1334340" y="979168"/>
                </a:lnTo>
                <a:close/>
              </a:path>
            </a:pathLst>
          </a:custGeom>
          <a:solidFill>
            <a:schemeClr val="tx1">
              <a:lumMod val="25000"/>
              <a:lumOff val="75000"/>
              <a:alpha val="25000"/>
            </a:schemeClr>
          </a:solidFill>
          <a:ln w="162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pic>
        <p:nvPicPr>
          <p:cNvPr id="28" name="图片 12" descr="343439383331313b343532303032383bbfcdbba7b9dcc0ed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35322" y="5060032"/>
            <a:ext cx="468000" cy="468000"/>
          </a:xfrm>
          <a:prstGeom prst="rect">
            <a:avLst/>
          </a:prstGeom>
        </p:spPr>
      </p:pic>
      <p:pic>
        <p:nvPicPr>
          <p:cNvPr id="29" name="图片 19" descr="343439383331313b343532303033353bc4dcd0a7b7fecef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95092" y="3581051"/>
            <a:ext cx="468000" cy="468000"/>
          </a:xfrm>
          <a:prstGeom prst="rect">
            <a:avLst/>
          </a:prstGeom>
        </p:spPr>
      </p:pic>
      <p:pic>
        <p:nvPicPr>
          <p:cNvPr id="30" name="图片 5" descr="343439383331313b343532303032323bb2fac6b7d5b9cabe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654031" y="2102071"/>
            <a:ext cx="468000" cy="468000"/>
          </a:xfrm>
          <a:prstGeom prst="rect">
            <a:avLst/>
          </a:prstGeom>
        </p:spPr>
      </p:pic>
      <p:sp>
        <p:nvSpPr>
          <p:cNvPr id="68" name="文本框 67"/>
          <p:cNvSpPr txBox="1"/>
          <p:nvPr>
            <p:custDataLst>
              <p:tags r:id="rId20"/>
            </p:custDataLst>
          </p:nvPr>
        </p:nvSpPr>
        <p:spPr>
          <a:xfrm>
            <a:off x="5878830" y="1375410"/>
            <a:ext cx="3088640" cy="14401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花费大量</a:t>
            </a:r>
            <a:r>
              <a:rPr lang="en-US" altLang="zh-CN" sz="12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token；A large number of tokens</a:t>
            </a:r>
            <a:endParaRPr lang="en-US" altLang="zh-CN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Drawing/Photo Editing;</a:t>
            </a:r>
            <a:endParaRPr lang="en-US" altLang="zh-CN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Make Games;</a:t>
            </a:r>
            <a:endParaRPr lang="en-US" altLang="zh-CN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Make </a:t>
            </a:r>
            <a:r>
              <a:rPr lang="en-US" altLang="zh-CN" sz="12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Videos</a:t>
            </a:r>
            <a:r>
              <a:rPr lang="zh-CN" altLang="en-US" sz="12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；</a:t>
            </a:r>
            <a:endParaRPr lang="zh-CN" altLang="en-US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69" name="矩形 68"/>
          <p:cNvSpPr/>
          <p:nvPr>
            <p:custDataLst>
              <p:tags r:id="rId21"/>
            </p:custDataLst>
          </p:nvPr>
        </p:nvSpPr>
        <p:spPr>
          <a:xfrm>
            <a:off x="2855354" y="1372567"/>
            <a:ext cx="1158630" cy="5784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algn="l"/>
            <a:r>
              <a:rPr lang="zh-CN" altLang="en-US" sz="2400" b="1" kern="0" dirty="0">
                <a:solidFill>
                  <a:schemeClr val="accent1"/>
                </a:solidFill>
                <a:cs typeface="+mn-lt"/>
              </a:rPr>
              <a:t>付费高级</a:t>
            </a:r>
            <a:r>
              <a:rPr lang="zh-CN" altLang="en-US" sz="2400" b="1" kern="0" dirty="0">
                <a:solidFill>
                  <a:schemeClr val="accent1"/>
                </a:solidFill>
                <a:cs typeface="+mn-lt"/>
              </a:rPr>
              <a:t>功能</a:t>
            </a:r>
            <a:endParaRPr lang="zh-CN" altLang="en-US" sz="2400" b="1" kern="0" dirty="0">
              <a:solidFill>
                <a:schemeClr val="accent1"/>
              </a:solidFill>
              <a:cs typeface="+mn-lt"/>
            </a:endParaRPr>
          </a:p>
          <a:p>
            <a:pPr algn="l"/>
            <a:r>
              <a:rPr lang="en-US" altLang="zh-CN" sz="2400" b="1" kern="0" dirty="0">
                <a:solidFill>
                  <a:schemeClr val="accent1"/>
                </a:solidFill>
                <a:cs typeface="+mn-lt"/>
                <a:sym typeface="+mn-ea"/>
              </a:rPr>
              <a:t>Payment a</a:t>
            </a:r>
            <a:r>
              <a:rPr lang="en-US" altLang="zh-CN" sz="2400" b="1" kern="0" dirty="0">
                <a:solidFill>
                  <a:schemeClr val="accent1"/>
                </a:solidFill>
                <a:cs typeface="+mn-lt"/>
              </a:rPr>
              <a:t>dvanced</a:t>
            </a:r>
            <a:endParaRPr lang="en-US" altLang="zh-CN" sz="2400" b="1" kern="0" dirty="0">
              <a:solidFill>
                <a:schemeClr val="accent1"/>
              </a:solidFill>
              <a:cs typeface="+mn-lt"/>
            </a:endParaRPr>
          </a:p>
          <a:p>
            <a:pPr algn="l"/>
            <a:r>
              <a:rPr lang="en-US" altLang="zh-CN" sz="2400" b="1" kern="0" dirty="0">
                <a:solidFill>
                  <a:schemeClr val="accent1"/>
                </a:solidFill>
                <a:cs typeface="+mn-lt"/>
              </a:rPr>
              <a:t>functions</a:t>
            </a:r>
            <a:endParaRPr lang="en-US" altLang="zh-CN" sz="2400" b="1" kern="0" dirty="0">
              <a:solidFill>
                <a:schemeClr val="accent1"/>
              </a:solidFill>
              <a:cs typeface="+mn-lt"/>
            </a:endParaRPr>
          </a:p>
        </p:txBody>
      </p:sp>
      <p:sp>
        <p:nvSpPr>
          <p:cNvPr id="70" name="文本框 69"/>
          <p:cNvSpPr txBox="1"/>
          <p:nvPr>
            <p:custDataLst>
              <p:tags r:id="rId22"/>
            </p:custDataLst>
          </p:nvPr>
        </p:nvSpPr>
        <p:spPr>
          <a:xfrm>
            <a:off x="4451350" y="2924175"/>
            <a:ext cx="2974975" cy="14401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花费中等数量</a:t>
            </a:r>
            <a:r>
              <a:rPr lang="en-US" altLang="zh-CN" sz="12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token；Moderate  tokens;</a:t>
            </a:r>
            <a:endParaRPr lang="en-US" altLang="zh-CN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PPT;PDF;DOC;EXCEL;</a:t>
            </a:r>
            <a:endParaRPr lang="en-US" altLang="zh-CN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Workflow;</a:t>
            </a:r>
            <a:endParaRPr lang="en-US" altLang="zh-CN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Industry Data Analysis and Suggestions;</a:t>
            </a:r>
            <a:endParaRPr lang="en-US" altLang="zh-CN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Error question bank + additional practice;</a:t>
            </a:r>
            <a:endParaRPr lang="en-US" altLang="zh-CN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71" name="矩形 70"/>
          <p:cNvSpPr/>
          <p:nvPr>
            <p:custDataLst>
              <p:tags r:id="rId23"/>
            </p:custDataLst>
          </p:nvPr>
        </p:nvSpPr>
        <p:spPr>
          <a:xfrm>
            <a:off x="1691500" y="2980714"/>
            <a:ext cx="1158630" cy="5784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algn="l"/>
            <a:r>
              <a:rPr lang="zh-CN" altLang="en-US" sz="2400" b="1" kern="0" dirty="0">
                <a:solidFill>
                  <a:schemeClr val="accent1"/>
                </a:solidFill>
                <a:cs typeface="+mn-lt"/>
              </a:rPr>
              <a:t>付费普通</a:t>
            </a:r>
            <a:r>
              <a:rPr lang="zh-CN" altLang="en-US" sz="2400" b="1" kern="0" dirty="0">
                <a:solidFill>
                  <a:schemeClr val="accent1"/>
                </a:solidFill>
                <a:cs typeface="+mn-lt"/>
              </a:rPr>
              <a:t>功能</a:t>
            </a:r>
            <a:endParaRPr lang="zh-CN" altLang="en-US" sz="2400" b="1" kern="0" dirty="0">
              <a:solidFill>
                <a:schemeClr val="accent1"/>
              </a:solidFill>
              <a:cs typeface="+mn-lt"/>
            </a:endParaRPr>
          </a:p>
          <a:p>
            <a:pPr algn="l"/>
            <a:r>
              <a:rPr lang="en-US" altLang="zh-CN" sz="2400" b="1" kern="0" dirty="0">
                <a:solidFill>
                  <a:schemeClr val="accent1"/>
                </a:solidFill>
                <a:cs typeface="+mn-lt"/>
              </a:rPr>
              <a:t>Payment general</a:t>
            </a:r>
            <a:endParaRPr lang="en-US" altLang="zh-CN" sz="2400" b="1" kern="0" dirty="0">
              <a:solidFill>
                <a:schemeClr val="accent1"/>
              </a:solidFill>
              <a:cs typeface="+mn-lt"/>
            </a:endParaRPr>
          </a:p>
          <a:p>
            <a:pPr algn="l"/>
            <a:r>
              <a:rPr lang="en-US" altLang="zh-CN" sz="2400" b="1" kern="0" dirty="0">
                <a:solidFill>
                  <a:schemeClr val="accent1"/>
                </a:solidFill>
                <a:cs typeface="+mn-lt"/>
              </a:rPr>
              <a:t>functions</a:t>
            </a:r>
            <a:endParaRPr lang="en-US" altLang="zh-CN" sz="2400" b="1" kern="0" dirty="0">
              <a:solidFill>
                <a:schemeClr val="accent1"/>
              </a:solidFill>
              <a:cs typeface="+mn-lt"/>
            </a:endParaRPr>
          </a:p>
        </p:txBody>
      </p:sp>
      <p:sp>
        <p:nvSpPr>
          <p:cNvPr id="72" name="文本框 71"/>
          <p:cNvSpPr txBox="1"/>
          <p:nvPr>
            <p:custDataLst>
              <p:tags r:id="rId24"/>
            </p:custDataLst>
          </p:nvPr>
        </p:nvSpPr>
        <p:spPr>
          <a:xfrm>
            <a:off x="2997200" y="4559300"/>
            <a:ext cx="2812415" cy="14401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不花费</a:t>
            </a:r>
            <a:r>
              <a:rPr lang="en-US" altLang="zh-CN" sz="12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token</a:t>
            </a:r>
            <a:r>
              <a:rPr lang="zh-CN" altLang="en-US" sz="12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或花少量</a:t>
            </a:r>
            <a:r>
              <a:rPr lang="en-US" altLang="zh-CN" sz="12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token；free token</a:t>
            </a:r>
            <a:r>
              <a:rPr lang="en-US" altLang="zh-CN" sz="12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s</a:t>
            </a:r>
            <a:endParaRPr lang="en-US" altLang="zh-CN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Meeting minutes;</a:t>
            </a:r>
            <a:endParaRPr lang="en-US" altLang="zh-CN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Translation；</a:t>
            </a:r>
            <a:endParaRPr lang="en-US" altLang="zh-CN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Test score evaluation;</a:t>
            </a:r>
            <a:endParaRPr lang="en-US" altLang="zh-CN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73" name="矩形 72"/>
          <p:cNvSpPr/>
          <p:nvPr>
            <p:custDataLst>
              <p:tags r:id="rId25"/>
            </p:custDataLst>
          </p:nvPr>
        </p:nvSpPr>
        <p:spPr>
          <a:xfrm>
            <a:off x="829986" y="4551731"/>
            <a:ext cx="1158630" cy="5784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algn="l"/>
            <a:r>
              <a:rPr lang="zh-CN" altLang="en-US" sz="2400" b="1" kern="0" dirty="0">
                <a:solidFill>
                  <a:schemeClr val="accent1"/>
                </a:solidFill>
                <a:cs typeface="+mn-lt"/>
              </a:rPr>
              <a:t>免费基础</a:t>
            </a:r>
            <a:r>
              <a:rPr lang="zh-CN" altLang="en-US" sz="2400" b="1" kern="0" dirty="0">
                <a:solidFill>
                  <a:schemeClr val="accent1"/>
                </a:solidFill>
                <a:cs typeface="+mn-lt"/>
              </a:rPr>
              <a:t>功能</a:t>
            </a:r>
            <a:endParaRPr lang="zh-CN" altLang="en-US" sz="2400" b="1" kern="0" dirty="0">
              <a:solidFill>
                <a:schemeClr val="accent1"/>
              </a:solidFill>
              <a:cs typeface="+mn-lt"/>
            </a:endParaRPr>
          </a:p>
          <a:p>
            <a:pPr algn="l"/>
            <a:r>
              <a:rPr lang="en-US" altLang="zh-CN" sz="2400" b="1" kern="0" dirty="0">
                <a:solidFill>
                  <a:schemeClr val="accent1"/>
                </a:solidFill>
                <a:cs typeface="+mn-lt"/>
              </a:rPr>
              <a:t>Free basic </a:t>
            </a:r>
            <a:endParaRPr lang="en-US" altLang="zh-CN" sz="2400" b="1" kern="0" dirty="0">
              <a:solidFill>
                <a:schemeClr val="accent1"/>
              </a:solidFill>
              <a:cs typeface="+mn-lt"/>
            </a:endParaRPr>
          </a:p>
          <a:p>
            <a:pPr algn="l"/>
            <a:r>
              <a:rPr lang="en-US" altLang="zh-CN" sz="2400" b="1" kern="0" dirty="0">
                <a:solidFill>
                  <a:schemeClr val="accent1"/>
                </a:solidFill>
                <a:cs typeface="+mn-lt"/>
              </a:rPr>
              <a:t>functions</a:t>
            </a:r>
            <a:endParaRPr lang="en-US" altLang="zh-CN" sz="2400" b="1" kern="0" dirty="0">
              <a:solidFill>
                <a:schemeClr val="accent1"/>
              </a:solidFill>
              <a:cs typeface="+mn-lt"/>
            </a:endParaRPr>
          </a:p>
        </p:txBody>
      </p:sp>
      <p:sp>
        <p:nvSpPr>
          <p:cNvPr id="74" name="矩形 73"/>
          <p:cNvSpPr/>
          <p:nvPr>
            <p:custDataLst>
              <p:tags r:id="rId26"/>
            </p:custDataLst>
          </p:nvPr>
        </p:nvSpPr>
        <p:spPr>
          <a:xfrm>
            <a:off x="5638608" y="1448766"/>
            <a:ext cx="66421" cy="494532"/>
          </a:xfrm>
          <a:prstGeom prst="rect">
            <a:avLst/>
          </a:prstGeom>
          <a:gradFill>
            <a:gsLst>
              <a:gs pos="10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85000"/>
                  <a:lumOff val="1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/>
          <p:cNvSpPr/>
          <p:nvPr>
            <p:custDataLst>
              <p:tags r:id="rId27"/>
            </p:custDataLst>
          </p:nvPr>
        </p:nvSpPr>
        <p:spPr>
          <a:xfrm>
            <a:off x="4213370" y="3059300"/>
            <a:ext cx="66421" cy="494532"/>
          </a:xfrm>
          <a:prstGeom prst="rect">
            <a:avLst/>
          </a:prstGeom>
          <a:gradFill>
            <a:gsLst>
              <a:gs pos="10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85000"/>
                  <a:lumOff val="1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/>
          <p:cNvSpPr/>
          <p:nvPr>
            <p:custDataLst>
              <p:tags r:id="rId28"/>
            </p:custDataLst>
          </p:nvPr>
        </p:nvSpPr>
        <p:spPr>
          <a:xfrm>
            <a:off x="2752158" y="4630316"/>
            <a:ext cx="66421" cy="494532"/>
          </a:xfrm>
          <a:prstGeom prst="rect">
            <a:avLst/>
          </a:prstGeom>
          <a:gradFill>
            <a:gsLst>
              <a:gs pos="10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85000"/>
                  <a:lumOff val="1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7" name="直接连接符 76"/>
          <p:cNvCxnSpPr/>
          <p:nvPr>
            <p:custDataLst>
              <p:tags r:id="rId29"/>
            </p:custDataLst>
          </p:nvPr>
        </p:nvCxnSpPr>
        <p:spPr>
          <a:xfrm>
            <a:off x="8443913" y="1809750"/>
            <a:ext cx="1078706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>
            <p:custDataLst>
              <p:tags r:id="rId30"/>
            </p:custDataLst>
          </p:nvPr>
        </p:nvCxnSpPr>
        <p:spPr>
          <a:xfrm>
            <a:off x="7019925" y="3417570"/>
            <a:ext cx="904875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>
            <p:custDataLst>
              <p:tags r:id="rId31"/>
            </p:custDataLst>
          </p:nvPr>
        </p:nvCxnSpPr>
        <p:spPr>
          <a:xfrm>
            <a:off x="5581650" y="4991100"/>
            <a:ext cx="795338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标题 1"/>
          <p:cNvSpPr>
            <a:spLocks noGrp="1"/>
          </p:cNvSpPr>
          <p:nvPr>
            <p:ph type="title"/>
            <p:custDataLst>
              <p:tags r:id="rId32"/>
            </p:custDataLst>
          </p:nvPr>
        </p:nvSpPr>
        <p:spPr>
          <a:xfrm>
            <a:off x="907415" y="293370"/>
            <a:ext cx="8978900" cy="969645"/>
          </a:xfrm>
        </p:spPr>
        <p:txBody>
          <a:bodyPr>
            <a:normAutofit/>
          </a:bodyPr>
          <a:lstStyle/>
          <a:p>
            <a:r>
              <a:rPr lang="zh-CN" altLang="en-US" sz="2800"/>
              <a:t>需求分级</a:t>
            </a:r>
            <a:r>
              <a:rPr lang="en-US" altLang="zh-CN" sz="2800"/>
              <a:t>Demand classification</a:t>
            </a:r>
            <a:endParaRPr lang="en-US" altLang="zh-CN" sz="2800"/>
          </a:p>
        </p:txBody>
      </p:sp>
    </p:spTree>
    <p:custDataLst>
      <p:tags r:id="rId3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46450"/>
            <a:ext cx="10969200" cy="705600"/>
          </a:xfrm>
        </p:spPr>
        <p:txBody>
          <a:bodyPr>
            <a:normAutofit fontScale="90000"/>
          </a:bodyPr>
          <a:p>
            <a:r>
              <a:rPr lang="zh-CN" altLang="en-US" sz="2220"/>
              <a:t>基于以上分析的</a:t>
            </a:r>
            <a:r>
              <a:rPr lang="en-US" altLang="zh-CN" sz="2220"/>
              <a:t>aicuber.co UI </a:t>
            </a:r>
            <a:r>
              <a:rPr lang="zh-CN" altLang="en-US" sz="2220"/>
              <a:t>草图</a:t>
            </a:r>
            <a:br>
              <a:rPr lang="zh-CN" altLang="en-US" sz="2220"/>
            </a:br>
            <a:r>
              <a:rPr lang="en-US" altLang="zh-CN" sz="2000"/>
              <a:t>Based on the above analysis, the UI sketch of aicuber.co</a:t>
            </a:r>
            <a:endParaRPr lang="en-US" altLang="zh-CN" sz="2000"/>
          </a:p>
        </p:txBody>
      </p:sp>
      <p:pic>
        <p:nvPicPr>
          <p:cNvPr id="5" name="图片 4" descr="登录页面图"/>
          <p:cNvPicPr>
            <a:picLocks noChangeAspect="1"/>
          </p:cNvPicPr>
          <p:nvPr/>
        </p:nvPicPr>
        <p:blipFill>
          <a:blip r:embed="rId2"/>
          <a:srcRect b="5852"/>
          <a:stretch>
            <a:fillRect/>
          </a:stretch>
        </p:blipFill>
        <p:spPr>
          <a:xfrm>
            <a:off x="608330" y="985520"/>
            <a:ext cx="4233545" cy="51701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63615" y="1579245"/>
            <a:ext cx="4714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Welcom to aicuber! </a:t>
            </a:r>
            <a:r>
              <a:rPr lang="zh-CN" altLang="en-US"/>
              <a:t>欢迎来到</a:t>
            </a:r>
            <a:r>
              <a:rPr lang="en-US" altLang="zh-CN"/>
              <a:t>aicuber!</a:t>
            </a:r>
            <a:endParaRPr lang="en-US" altLang="zh-CN"/>
          </a:p>
        </p:txBody>
      </p:sp>
      <p:sp>
        <p:nvSpPr>
          <p:cNvPr id="9" name="流程图: 可选过程 8"/>
          <p:cNvSpPr/>
          <p:nvPr/>
        </p:nvSpPr>
        <p:spPr>
          <a:xfrm>
            <a:off x="5662295" y="2381885"/>
            <a:ext cx="5102860" cy="47625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/>
        </p:nvSpPr>
        <p:spPr>
          <a:xfrm>
            <a:off x="5662295" y="3290570"/>
            <a:ext cx="5102860" cy="47625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788025" y="2093595"/>
            <a:ext cx="9150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Email </a:t>
            </a:r>
            <a:endParaRPr lang="en-US" altLang="zh-CN" sz="1200"/>
          </a:p>
        </p:txBody>
      </p:sp>
      <p:sp>
        <p:nvSpPr>
          <p:cNvPr id="12" name="文本框 11"/>
          <p:cNvSpPr txBox="1"/>
          <p:nvPr/>
        </p:nvSpPr>
        <p:spPr>
          <a:xfrm>
            <a:off x="5788025" y="3007360"/>
            <a:ext cx="12776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Password</a:t>
            </a:r>
            <a:endParaRPr lang="en-US" altLang="zh-CN" sz="1200"/>
          </a:p>
        </p:txBody>
      </p:sp>
      <p:sp>
        <p:nvSpPr>
          <p:cNvPr id="13" name="圆角矩形 12"/>
          <p:cNvSpPr/>
          <p:nvPr/>
        </p:nvSpPr>
        <p:spPr>
          <a:xfrm>
            <a:off x="7386320" y="4412615"/>
            <a:ext cx="1654810" cy="61468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434580" y="4564380"/>
            <a:ext cx="1654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>
                    <a:lumMod val="95000"/>
                  </a:schemeClr>
                </a:solidFill>
              </a:rPr>
              <a:t>LOG IN </a:t>
            </a:r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登录</a:t>
            </a:r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95770" y="5205730"/>
            <a:ext cx="38614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No account? </a:t>
            </a:r>
            <a:r>
              <a:rPr lang="en-US" altLang="zh-CN" sz="1600">
                <a:solidFill>
                  <a:schemeClr val="accent1"/>
                </a:solidFill>
              </a:rPr>
              <a:t>Registrate</a:t>
            </a:r>
            <a:r>
              <a:rPr lang="en-US" altLang="zh-CN" sz="1600"/>
              <a:t> now~</a:t>
            </a:r>
            <a:endParaRPr lang="en-US" altLang="zh-CN" sz="1600"/>
          </a:p>
        </p:txBody>
      </p:sp>
      <p:sp>
        <p:nvSpPr>
          <p:cNvPr id="16" name="文本框 15"/>
          <p:cNvSpPr txBox="1"/>
          <p:nvPr/>
        </p:nvSpPr>
        <p:spPr>
          <a:xfrm>
            <a:off x="9505950" y="3923665"/>
            <a:ext cx="15170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</a:rPr>
              <a:t>Forgot pw?</a:t>
            </a:r>
            <a:endParaRPr lang="en-US" altLang="zh-CN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主功能页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5" y="635"/>
            <a:ext cx="1096200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主功能页面（英文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" y="0"/>
            <a:ext cx="1096391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充值二级页面（英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 sz="2220"/>
              <a:t>需要进一步讨论的问题</a:t>
            </a:r>
            <a:r>
              <a:rPr lang="en-US" altLang="zh-CN" sz="2220"/>
              <a:t>：Issues requiring further discussion:</a:t>
            </a:r>
            <a:endParaRPr lang="en-US" altLang="zh-CN" sz="2220"/>
          </a:p>
        </p:txBody>
      </p:sp>
      <p:sp>
        <p:nvSpPr>
          <p:cNvPr id="3" name="文本框 2"/>
          <p:cNvSpPr txBox="1"/>
          <p:nvPr/>
        </p:nvSpPr>
        <p:spPr>
          <a:xfrm>
            <a:off x="579120" y="1480820"/>
            <a:ext cx="8926830" cy="4904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1、</a:t>
            </a:r>
            <a:r>
              <a:rPr lang="zh-CN" altLang="en-US" sz="1600"/>
              <a:t>网页可否设计成自动适配多国语言</a:t>
            </a:r>
            <a:r>
              <a:rPr lang="en-US" altLang="zh-CN" sz="1600"/>
              <a:t>？</a:t>
            </a:r>
            <a:r>
              <a:rPr lang="zh-CN" altLang="en-US" sz="1600"/>
              <a:t>如果不行</a:t>
            </a:r>
            <a:r>
              <a:rPr lang="en-US" altLang="zh-CN" sz="1600"/>
              <a:t>，</a:t>
            </a:r>
            <a:r>
              <a:rPr lang="zh-CN" altLang="en-US" sz="1600"/>
              <a:t>初步实现中</a:t>
            </a:r>
            <a:r>
              <a:rPr lang="en-US" altLang="zh-CN" sz="1600"/>
              <a:t>、</a:t>
            </a:r>
            <a:r>
              <a:rPr lang="zh-CN" altLang="en-US" sz="1600"/>
              <a:t>英两种语言</a:t>
            </a:r>
            <a:r>
              <a:rPr lang="en-US" altLang="zh-CN" sz="1600"/>
              <a:t>；</a:t>
            </a:r>
            <a:endParaRPr lang="en-US" altLang="zh-CN" sz="1600"/>
          </a:p>
          <a:p>
            <a:r>
              <a:rPr lang="en-US" altLang="zh-CN" sz="1600"/>
              <a:t>2、</a:t>
            </a:r>
            <a:r>
              <a:rPr lang="zh-CN" altLang="en-US" sz="1600"/>
              <a:t>充值计算方式和抵扣</a:t>
            </a:r>
            <a:r>
              <a:rPr lang="en-US" altLang="zh-CN" sz="1600"/>
              <a:t>：1</a:t>
            </a:r>
            <a:r>
              <a:rPr lang="zh-CN" altLang="en-US" sz="1600"/>
              <a:t>元可以得到多少</a:t>
            </a:r>
            <a:r>
              <a:rPr lang="en-US" altLang="zh-CN" sz="1600"/>
              <a:t>tokens？</a:t>
            </a:r>
            <a:r>
              <a:rPr lang="zh-CN" altLang="en-US" sz="1600"/>
              <a:t>还是多少</a:t>
            </a:r>
            <a:r>
              <a:rPr lang="en-US" altLang="zh-CN" sz="1600"/>
              <a:t>credits</a:t>
            </a:r>
            <a:r>
              <a:rPr lang="zh-CN" altLang="en-US" sz="1600"/>
              <a:t>？还是多少</a:t>
            </a:r>
            <a:r>
              <a:rPr lang="en-US" altLang="zh-CN" sz="1600"/>
              <a:t>points？</a:t>
            </a:r>
            <a:r>
              <a:rPr lang="zh-CN" altLang="en-US" sz="1600"/>
              <a:t>怎么来估算这个数量和单位</a:t>
            </a:r>
            <a:r>
              <a:rPr lang="en-US" altLang="zh-CN" sz="1600"/>
              <a:t>？</a:t>
            </a:r>
            <a:endParaRPr lang="en-US" altLang="zh-CN" sz="1600"/>
          </a:p>
          <a:p>
            <a:r>
              <a:rPr lang="en-US" altLang="zh-CN" sz="1600"/>
              <a:t>3、</a:t>
            </a:r>
            <a:r>
              <a:rPr lang="zh-CN" altLang="en-US" sz="1600"/>
              <a:t>充值页面</a:t>
            </a:r>
            <a:r>
              <a:rPr lang="en-US" altLang="zh-CN" sz="1600"/>
              <a:t>：</a:t>
            </a:r>
            <a:r>
              <a:rPr lang="zh-CN" altLang="en-US" sz="1600"/>
              <a:t>不同国家汇率不同</a:t>
            </a:r>
            <a:r>
              <a:rPr lang="en-US" altLang="zh-CN" sz="1600"/>
              <a:t>，1¥、1$、1SGD</a:t>
            </a:r>
            <a:r>
              <a:rPr lang="zh-CN" altLang="en-US" sz="1600"/>
              <a:t>能够买到</a:t>
            </a:r>
            <a:r>
              <a:rPr lang="en-US" altLang="zh-CN" sz="1600"/>
              <a:t>tokens</a:t>
            </a:r>
            <a:r>
              <a:rPr lang="zh-CN" altLang="en-US" sz="1600"/>
              <a:t>数量是不同的</a:t>
            </a:r>
            <a:r>
              <a:rPr lang="en-US" altLang="zh-CN" sz="1600"/>
              <a:t>，</a:t>
            </a:r>
            <a:r>
              <a:rPr lang="zh-CN" altLang="en-US" sz="1600"/>
              <a:t>可否实现充值页面自动识别客户所在国家</a:t>
            </a:r>
            <a:r>
              <a:rPr lang="en-US" altLang="zh-CN" sz="1600"/>
              <a:t>，</a:t>
            </a:r>
            <a:r>
              <a:rPr lang="zh-CN" altLang="en-US" sz="1600"/>
              <a:t>以所在国家货币单位来计算</a:t>
            </a:r>
            <a:r>
              <a:rPr lang="en-US" altLang="zh-CN" sz="1600"/>
              <a:t>tokens。</a:t>
            </a:r>
            <a:endParaRPr lang="en-US" altLang="zh-CN" sz="1600"/>
          </a:p>
          <a:p>
            <a:r>
              <a:rPr lang="en-US" altLang="zh-CN" sz="1600"/>
              <a:t>4、</a:t>
            </a:r>
            <a:r>
              <a:rPr lang="zh-CN" altLang="en-US" sz="1600"/>
              <a:t>充值功能与支付渠道的链接</a:t>
            </a:r>
            <a:r>
              <a:rPr lang="en-US" altLang="zh-CN" sz="1600"/>
              <a:t>：</a:t>
            </a:r>
            <a:r>
              <a:rPr lang="zh-CN" altLang="en-US" sz="1600"/>
              <a:t>怎样实现与支付宝</a:t>
            </a:r>
            <a:r>
              <a:rPr lang="en-US" altLang="zh-CN" sz="1600"/>
              <a:t>，</a:t>
            </a:r>
            <a:r>
              <a:rPr lang="zh-CN" altLang="en-US" sz="1600"/>
              <a:t>微信</a:t>
            </a:r>
            <a:r>
              <a:rPr lang="en-US" altLang="zh-CN" sz="1600"/>
              <a:t>、paynow、visa、master</a:t>
            </a:r>
            <a:r>
              <a:rPr lang="zh-CN" altLang="en-US" sz="1600"/>
              <a:t>的付款连接</a:t>
            </a:r>
            <a:r>
              <a:rPr lang="en-US" altLang="zh-CN" sz="1600"/>
              <a:t>？</a:t>
            </a:r>
            <a:r>
              <a:rPr lang="zh-CN" altLang="en-US" sz="1600"/>
              <a:t>是否需要什么手续或备案</a:t>
            </a:r>
            <a:r>
              <a:rPr lang="en-US" altLang="zh-CN" sz="1600"/>
              <a:t>，</a:t>
            </a:r>
            <a:r>
              <a:rPr lang="zh-CN" altLang="en-US" sz="1600"/>
              <a:t>毕竟涉及到钱款转账</a:t>
            </a:r>
            <a:r>
              <a:rPr lang="en-US" altLang="zh-CN" sz="1600"/>
              <a:t>。</a:t>
            </a:r>
            <a:endParaRPr lang="en-US" altLang="zh-CN" sz="1600"/>
          </a:p>
          <a:p>
            <a:endParaRPr lang="en-US" altLang="zh-CN"/>
          </a:p>
          <a:p>
            <a:r>
              <a:rPr lang="en-US" altLang="zh-CN" sz="1600"/>
              <a:t>1. Can the webpage be designed to automatically adapt to multiple languages? If not, initially support both Chinese and English.  </a:t>
            </a:r>
            <a:endParaRPr lang="en-US" altLang="zh-CN" sz="1600"/>
          </a:p>
          <a:p>
            <a:r>
              <a:rPr lang="en-US" altLang="zh-CN" sz="1600"/>
              <a:t>2. Recharge calculation method and deduction: How many tokens, credits, or points does 1 yuan provide? How should this quantity and unit be estimated?  </a:t>
            </a:r>
            <a:endParaRPr lang="en-US" altLang="zh-CN" sz="1600"/>
          </a:p>
          <a:p>
            <a:r>
              <a:rPr lang="en-US" altLang="zh-CN" sz="1600"/>
              <a:t>3. Recharge page: Exchange rates vary by country, so 1</a:t>
            </a:r>
            <a:r>
              <a:rPr lang="" altLang="en-US" sz="1600"/>
              <a:t>¥</a:t>
            </a:r>
            <a:r>
              <a:rPr lang="en-US" altLang="zh-CN" sz="1600"/>
              <a:t>, 1$, or 1SGD can purchase different amounts of tokens. Can the recharge page automatically detect the user's country and calculate token amounts based on their local currency?  </a:t>
            </a:r>
            <a:endParaRPr lang="en-US" altLang="zh-CN" sz="1600"/>
          </a:p>
          <a:p>
            <a:r>
              <a:rPr lang="en-US" altLang="zh-CN" sz="1600"/>
              <a:t>4. Integration of recharge function with payment channels: How to connect with Alipay, WeChat Pay, PayNow, Visa, and Mastercard? Are there any required procedures or registrations, given that money transfers are involved?</a:t>
            </a:r>
            <a:endParaRPr lang="en-US" altLang="zh-CN" sz="16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3163_1*a*1"/>
  <p:tag name="KSO_WM_TEMPLATE_CATEGORY" val="diagram"/>
  <p:tag name="KSO_WM_TEMPLATE_INDEX" val="20233163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30"/>
  <p:tag name="KSO_WM_UNIT_TYPE" val="a"/>
  <p:tag name="KSO_WM_UNIT_INDEX" val="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NDEX" val="1_2_1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81.0532283464569,&quot;left&quot;:42.078260142409,&quot;top&quot;:34.41094488188976,&quot;width&quot;:863.121826171875}"/>
  <p:tag name="KSO_WM_UNIT_ISCONTENTSTITLE" val="0"/>
  <p:tag name="KSO_WM_UNIT_ISNUMDGMTITLE" val="0"/>
  <p:tag name="KSO_WM_UNIT_NOCLEAR" val="0"/>
  <p:tag name="KSO_WM_UNIT_TYPE" val="n_h_h_a"/>
  <p:tag name="KSO_WM_UNIT_ID" val="diagram20233163_1*n_h_h_a*1_2_1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68.xml><?xml version="1.0" encoding="utf-8"?>
<p:tagLst xmlns:p="http://schemas.openxmlformats.org/presentationml/2006/main">
  <p:tag name="KSO_WM_UNIT_TEXT_FILL_FORE_SCHEMECOLOR_INDEX_BRIGHTNESS" val="0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3163_1*n_h_h_f*1_2_1_1"/>
  <p:tag name="KSO_WM_TEMPLATE_CATEGORY" val="diagram"/>
  <p:tag name="KSO_WM_TEMPLATE_INDEX" val="20233163"/>
  <p:tag name="KSO_WM_UNIT_LAYERLEVEL" val="1_1_1_1"/>
  <p:tag name="KSO_WM_TAG_VERSION" val="3.0"/>
  <p:tag name="KSO_WM_BEAUTIFY_FLAG" val="#wm#"/>
  <p:tag name="KSO_WM_UNIT_VALUE" val="36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81.0532283464569,&quot;left&quot;:42.078260142409,&quot;top&quot;:34.41094488188976,&quot;width&quot;:863.121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文本具体内容，简明扼要地阐述观点。可酌情增减文字，以便观者准确地理解您传达的思想。添加文本具体内容，简明扼要地阐述观点。"/>
  <p:tag name="KSO_WM_UNIT_TEXT_FILL_FORE_SCHEMECOLOR_INDEX" val="1"/>
  <p:tag name="KSO_WM_UNIT_TEXT_FILL_TYPE" val="1"/>
  <p:tag name="KSO_WM_UNIT_USESOURCEFORMAT_APPLY" val="0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81.0532283464569,&quot;left&quot;:42.078260142409,&quot;top&quot;:34.41094488188976,&quot;width&quot;:863.121826171875}"/>
  <p:tag name="KSO_WM_UNIT_ISCONTENTSTITLE" val="0"/>
  <p:tag name="KSO_WM_UNIT_ISNUMDGMTITLE" val="0"/>
  <p:tag name="KSO_WM_UNIT_NOCLEAR" val="0"/>
  <p:tag name="KSO_WM_UNIT_TYPE" val="n_h_h_a"/>
  <p:tag name="KSO_WM_UNIT_INDEX" val="1_2_2_1"/>
  <p:tag name="KSO_WM_UNIT_ID" val="diagram20233163_1*n_h_h_a*1_2_2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70.xml><?xml version="1.0" encoding="utf-8"?>
<p:tagLst xmlns:p="http://schemas.openxmlformats.org/presentationml/2006/main">
  <p:tag name="KSO_WM_UNIT_TEXT_FILL_FORE_SCHEMECOLOR_INDEX_BRIGHTNESS" val="0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3163_1*n_h_h_f*1_2_2_1"/>
  <p:tag name="KSO_WM_TEMPLATE_CATEGORY" val="diagram"/>
  <p:tag name="KSO_WM_TEMPLATE_INDEX" val="20233163"/>
  <p:tag name="KSO_WM_UNIT_LAYERLEVEL" val="1_1_1_1"/>
  <p:tag name="KSO_WM_TAG_VERSION" val="3.0"/>
  <p:tag name="KSO_WM_UNIT_VALUE" val="51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81.0532283464569,&quot;left&quot;:42.078260142409,&quot;top&quot;:34.41094488188976,&quot;width&quot;:863.121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文本具体内容，简明扼要地阐述观点。可酌情增减文字，以便观者准确地理解您传达的思想。添加文本具体内容，简明扼要地阐述观点。"/>
  <p:tag name="KSO_WM_UNIT_TEXT_FILL_FORE_SCHEMECOLOR_INDEX" val="1"/>
  <p:tag name="KSO_WM_UNIT_TEXT_FILL_TYPE" val="1"/>
  <p:tag name="KSO_WM_UNIT_USESOURCEFORMAT_APPLY" val="0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81.0532283464569,&quot;left&quot;:42.078260142409,&quot;top&quot;:34.41094488188976,&quot;width&quot;:863.121826171875}"/>
  <p:tag name="KSO_WM_UNIT_ISCONTENTSTITLE" val="0"/>
  <p:tag name="KSO_WM_UNIT_ISNUMDGMTITLE" val="0"/>
  <p:tag name="KSO_WM_UNIT_NOCLEAR" val="0"/>
  <p:tag name="KSO_WM_UNIT_TYPE" val="n_h_h_a"/>
  <p:tag name="KSO_WM_UNIT_INDEX" val="1_2_3_1"/>
  <p:tag name="KSO_WM_UNIT_ID" val="diagram20233163_1*n_h_h_a*1_2_3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72.xml><?xml version="1.0" encoding="utf-8"?>
<p:tagLst xmlns:p="http://schemas.openxmlformats.org/presentationml/2006/main">
  <p:tag name="KSO_WM_UNIT_TEXT_FILL_FORE_SCHEMECOLOR_INDEX_BRIGHTNESS" val="0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3163_1*n_h_h_f*1_2_3_1"/>
  <p:tag name="KSO_WM_TEMPLATE_CATEGORY" val="diagram"/>
  <p:tag name="KSO_WM_TEMPLATE_INDEX" val="20233163"/>
  <p:tag name="KSO_WM_UNIT_LAYERLEVEL" val="1_1_1_1"/>
  <p:tag name="KSO_WM_TAG_VERSION" val="3.0"/>
  <p:tag name="KSO_WM_BEAUTIFY_FLAG" val="#wm#"/>
  <p:tag name="KSO_WM_UNIT_VALUE" val="36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81.0532283464569,&quot;left&quot;:42.078260142409,&quot;top&quot;:34.41094488188976,&quot;width&quot;:863.121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文本具体内容，简明扼要地阐述观点。可酌情增减文字，以便观者准确地理解您传达的思想。添加文本具体内容，简明扼要地阐述观点。"/>
  <p:tag name="KSO_WM_UNIT_TEXT_FILL_FORE_SCHEMECOLOR_INDEX" val="1"/>
  <p:tag name="KSO_WM_UNIT_TEXT_FILL_TYPE" val="1"/>
  <p:tag name="KSO_WM_UNIT_USESOURCEFORMAT_APPLY" val="0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81.0532283464569,&quot;left&quot;:42.078260142409,&quot;top&quot;:34.41094488188976,&quot;width&quot;:863.121826171875}"/>
  <p:tag name="KSO_WM_UNIT_ISCONTENTSTITLE" val="0"/>
  <p:tag name="KSO_WM_UNIT_ISNUMDGMTITLE" val="0"/>
  <p:tag name="KSO_WM_UNIT_NOCLEAR" val="0"/>
  <p:tag name="KSO_WM_UNIT_TYPE" val="n_h_h_a"/>
  <p:tag name="KSO_WM_UNIT_INDEX" val="1_2_4_1"/>
  <p:tag name="KSO_WM_UNIT_ID" val="diagram20233163_1*n_h_h_a*1_2_4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74.xml><?xml version="1.0" encoding="utf-8"?>
<p:tagLst xmlns:p="http://schemas.openxmlformats.org/presentationml/2006/main">
  <p:tag name="KSO_WM_UNIT_TEXT_FILL_FORE_SCHEMECOLOR_INDEX_BRIGHTNESS" val="0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4_1"/>
  <p:tag name="KSO_WM_UNIT_ID" val="diagram20233163_1*n_h_h_f*1_2_4_1"/>
  <p:tag name="KSO_WM_TEMPLATE_CATEGORY" val="diagram"/>
  <p:tag name="KSO_WM_TEMPLATE_INDEX" val="20233163"/>
  <p:tag name="KSO_WM_UNIT_LAYERLEVEL" val="1_1_1_1"/>
  <p:tag name="KSO_WM_TAG_VERSION" val="3.0"/>
  <p:tag name="KSO_WM_BEAUTIFY_FLAG" val="#wm#"/>
  <p:tag name="KSO_WM_UNIT_VALUE" val="36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81.0532283464569,&quot;left&quot;:42.078260142409,&quot;top&quot;:34.41094488188976,&quot;width&quot;:863.121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文本具体内容，简明扼要地阐述观点。可酌情增减文字，以便观者准确地理解您传达的思想。添加文本具体内容，简明扼要地阐述观点。"/>
  <p:tag name="KSO_WM_UNIT_TEXT_FILL_FORE_SCHEMECOLOR_INDEX" val="1"/>
  <p:tag name="KSO_WM_UNIT_TEXT_FILL_TYPE" val="1"/>
  <p:tag name="KSO_WM_UNIT_USESOURCEFORMAT_APPLY" val="0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2"/>
  <p:tag name="KSO_WM_UNIT_ID" val="diagram20233163_1*n_h_i*1_2_2"/>
  <p:tag name="KSO_WM_TEMPLATE_CATEGORY" val="diagram"/>
  <p:tag name="KSO_WM_TEMPLATE_INDEX" val="20233163"/>
  <p:tag name="KSO_WM_UNIT_LAYERLEVEL" val="1_1_1"/>
  <p:tag name="KSO_WM_TAG_VERSION" val="3.0"/>
  <p:tag name="KSO_WM_UNIT_LINE_FORE_SCHEMECOLOR_INDEX_1_BRIGHTNESS" val="0.4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51"/>
  <p:tag name="KSO_WM_UNIT_LINE_FORE_SCHEMECOLOR_INDEX_2_TRANS" val="1"/>
  <p:tag name="KSO_WM_UNIT_LINE_GRADIENT_TYPE" val="0"/>
  <p:tag name="KSO_WM_UNIT_LINE_GRADIENT_ANGLE" val="180"/>
  <p:tag name="KSO_WM_UNIT_LINE_GRADIENT_DIRECTION" val="4"/>
  <p:tag name="KSO_WM_UNIT_LINE_FILL_TYPE" val="5"/>
  <p:tag name="KSO_WM_UNIT_TEXT_FILL_FORE_SCHEMECOLOR_INDEX_BRIGHTNESS" val="0"/>
  <p:tag name="KSO_WM_UNIT_TEXT_FILL_TYPE" val="1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81.0532283464569,&quot;left&quot;:42.078260142409,&quot;top&quot;:34.41094488188976,&quot;width&quot;:863.121826171875}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,&quot;transparency&quot;:0.6000000238418579},{&quot;brightness&quot;:0,&quot;colorType&quot;:1,&quot;foreColorIndex&quot;:5,&quot;pos&quot;:0.5099999904632568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76.xml><?xml version="1.0" encoding="utf-8"?>
<p:tagLst xmlns:p="http://schemas.openxmlformats.org/presentationml/2006/main"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4_1"/>
  <p:tag name="KSO_WM_UNIT_ID" val="diagram20233163_1*n_h_h_i*1_2_4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81.0532283464569,&quot;left&quot;:42.078260142409,&quot;top&quot;:34.41094488188976,&quot;width&quot;:863.121826171875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USESOURCEFORMAT_APPLY" val="0"/>
</p:tagLst>
</file>

<file path=ppt/tags/tag77.xml><?xml version="1.0" encoding="utf-8"?>
<p:tagLst xmlns:p="http://schemas.openxmlformats.org/presentationml/2006/main"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1"/>
  <p:tag name="KSO_WM_UNIT_ID" val="diagram20233163_1*n_h_h_i*1_2_1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81.0532283464569,&quot;left&quot;:42.078260142409,&quot;top&quot;:34.41094488188976,&quot;width&quot;:863.121826171875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USESOURCEFORMAT_APPLY" val="0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3163_1*n_h_i*1_1_2"/>
  <p:tag name="KSO_WM_TEMPLATE_CATEGORY" val="diagram"/>
  <p:tag name="KSO_WM_TEMPLATE_INDEX" val="20233163"/>
  <p:tag name="KSO_WM_UNIT_LAYERLEVEL" val="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.9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.9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81.0532283464569,&quot;left&quot;:42.078260142409,&quot;top&quot;:34.41094488188976,&quot;width&quot;:863.121826171875}"/>
  <p:tag name="KSO_WM_DIAGRAM_COLOR_MATCH_VALUE" val="{&quot;shape&quot;:{&quot;fill&quot;:{&quot;solid&quot;:{&quot;brightness&quot;:0,&quot;colorType&quot;:1,&quot;foreColorIndex&quot;:5,&quot;transparency&quot;:0.819999992847442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2"/>
  <p:tag name="KSO_WM_UNIT_ID" val="diagram20233163_1*n_h_a*1_1_2"/>
  <p:tag name="KSO_WM_TEMPLATE_CATEGORY" val="diagram"/>
  <p:tag name="KSO_WM_TEMPLATE_INDEX" val="20233163"/>
  <p:tag name="KSO_WM_UNIT_LAYERLEVEL" val="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8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81.0532283464569,&quot;left&quot;:42.078260142409,&quot;top&quot;:34.41094488188976,&quot;width&quot;:863.12182617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40"/>
  <p:tag name="KSO_WM_UNIT_TEXT_TYPE" val="1"/>
  <p:tag name="KSO_WM_UNIT_PRESET_TEXT" val="单击此处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80.xml><?xml version="1.0" encoding="utf-8"?>
<p:tagLst xmlns:p="http://schemas.openxmlformats.org/presentationml/2006/main"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1"/>
  <p:tag name="KSO_WM_UNIT_ID" val="diagram20233163_1*n_h_h_i*1_2_3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81.0532283464569,&quot;left&quot;:42.078260142409,&quot;top&quot;:34.41094488188976,&quot;width&quot;:863.121826171875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USESOURCEFORMAT_APPLY" val="0"/>
</p:tagLst>
</file>

<file path=ppt/tags/tag81.xml><?xml version="1.0" encoding="utf-8"?>
<p:tagLst xmlns:p="http://schemas.openxmlformats.org/presentationml/2006/main"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233163_1*n_h_h_i*1_2_2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81.0532283464569,&quot;left&quot;:42.078260142409,&quot;top&quot;:34.41094488188976,&quot;width&quot;:863.121826171875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USESOURCEFORMAT_APPLY" val="0"/>
</p:tagLst>
</file>

<file path=ppt/tags/tag82.xml><?xml version="1.0" encoding="utf-8"?>
<p:tagLst xmlns:p="http://schemas.openxmlformats.org/presentationml/2006/main">
  <p:tag name="KSO_WM_UNIT_TEXT_FILL_FORE_SCHEMECOLOR_INDEX_BRIGHTNESS" val="0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4_1"/>
  <p:tag name="KSO_WM_UNIT_ID" val="diagram20233163_1*n_h_h_f*1_2_4_1"/>
  <p:tag name="KSO_WM_TEMPLATE_CATEGORY" val="diagram"/>
  <p:tag name="KSO_WM_TEMPLATE_INDEX" val="20233163"/>
  <p:tag name="KSO_WM_UNIT_LAYERLEVEL" val="1_1_1_1"/>
  <p:tag name="KSO_WM_TAG_VERSION" val="3.0"/>
  <p:tag name="KSO_WM_UNIT_VALUE" val="36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41.1532283464568,&quot;left&quot;:42.078260142409,&quot;top&quot;:69.56094488188975,&quot;width&quot;:863.121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文本具体内容，简明扼要地阐述观点。可酌情增减文字，以便观者准确地理解您传达的思想。添加文本具体内容，简明扼要地阐述观点。"/>
  <p:tag name="KSO_WM_UNIT_TEXT_FILL_FORE_SCHEMECOLOR_INDEX" val="1"/>
  <p:tag name="KSO_WM_UNIT_TEXT_FILL_TYPE" val="1"/>
  <p:tag name="KSO_WM_UNIT_USESOURCEFORMAT_APPLY" val="0"/>
</p:tagLst>
</file>

<file path=ppt/tags/tag83.xml><?xml version="1.0" encoding="utf-8"?>
<p:tagLst xmlns:p="http://schemas.openxmlformats.org/presentationml/2006/main">
  <p:tag name="KSO_WM_UNIT_TEXT_FILL_FORE_SCHEMECOLOR_INDEX_BRIGHTNESS" val="0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4_1"/>
  <p:tag name="KSO_WM_UNIT_ID" val="diagram20233163_1*n_h_h_f*1_2_4_1"/>
  <p:tag name="KSO_WM_TEMPLATE_CATEGORY" val="diagram"/>
  <p:tag name="KSO_WM_TEMPLATE_INDEX" val="20233163"/>
  <p:tag name="KSO_WM_UNIT_LAYERLEVEL" val="1_1_1_1"/>
  <p:tag name="KSO_WM_TAG_VERSION" val="3.0"/>
  <p:tag name="KSO_WM_UNIT_VALUE" val="36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441.1532283464568,&quot;left&quot;:42.078260142409,&quot;top&quot;:69.56094488188975,&quot;width&quot;:863.121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文本具体内容，简明扼要地阐述观点。可酌情增减文字，以便观者准确地理解您传达的思想。添加文本具体内容，简明扼要地阐述观点。"/>
  <p:tag name="KSO_WM_UNIT_TEXT_FILL_FORE_SCHEMECOLOR_INDEX" val="1"/>
  <p:tag name="KSO_WM_UNIT_TEXT_FILL_TYPE" val="1"/>
  <p:tag name="KSO_WM_UNIT_USESOURCEFORMAT_APPLY" val="0"/>
</p:tagLst>
</file>

<file path=ppt/tags/tag84.xml><?xml version="1.0" encoding="utf-8"?>
<p:tagLst xmlns:p="http://schemas.openxmlformats.org/presentationml/2006/main">
  <p:tag name="KSO_WM_SPECIAL_SOURCE" val="bdnull"/>
  <p:tag name="KSO_WM_SLIDE_ID" val="diagram20233163_1"/>
  <p:tag name="KSO_WM_TEMPLATE_SUBCATEGORY" val="0"/>
  <p:tag name="KSO_WM_TEMPLATE_MASTER_TYPE" val="0"/>
  <p:tag name="KSO_WM_TEMPLATE_COLOR_TYPE" val="0"/>
  <p:tag name="KSO_WM_SLIDE_ITEM_CNT" val="4"/>
  <p:tag name="KSO_WM_SLIDE_INDEX" val="1"/>
  <p:tag name="KSO_WM_TAG_VERSION" val="3.0"/>
  <p:tag name="KSO_WM_BEAUTIFY_FLAG" val="#wm#"/>
  <p:tag name="KSO_WM_TEMPLATE_CATEGORY" val="custom"/>
  <p:tag name="KSO_WM_TEMPLATE_INDEX" val="20205081"/>
  <p:tag name="KSO_WM_SLIDE_TYPE" val="text"/>
  <p:tag name="KSO_WM_SLIDE_SUBTYPE" val="diag"/>
  <p:tag name="KSO_WM_SLIDE_SIZE" val="863.122*388.083"/>
  <p:tag name="KSO_WM_SLIDE_POSITION" val="42.0783*122.631"/>
  <p:tag name="KSO_WM_DIAGRAM_GROUP_CODE" val="n1-1"/>
  <p:tag name="KSO_WM_SLIDE_DIAGTYPE" val="n"/>
  <p:tag name="KSO_WM_SLIDE_LAYOUT" val="a_n"/>
  <p:tag name="KSO_WM_SLIDE_LAYOUT_CNT" val="1_1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2975_1*a*1"/>
  <p:tag name="KSO_WM_TEMPLATE_CATEGORY" val="custom"/>
  <p:tag name="KSO_WM_TEMPLATE_INDEX" val="40492975"/>
  <p:tag name="KSO_WM_UNIT_LAYERLEVEL" val="1"/>
  <p:tag name="KSO_WM_TAG_VERSION" val="3.0"/>
  <p:tag name="KSO_WM_BEAUTIFY_FLAG" val="#wm#"/>
  <p:tag name="KSO_WM_UNIT_VALUE" val="30"/>
  <p:tag name="KSO_WM_DIAGRAM_GROUP_CODE" val="n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2_1_2"/>
  <p:tag name="KSO_WM_UNIT_ID" val="diagram40492951_1*n_h_h_a*1_2_1_2"/>
  <p:tag name="KSO_WM_TEMPLATE_CATEGORY" val="diagram"/>
  <p:tag name="KSO_WM_TEMPLATE_INDEX" val="40492951"/>
  <p:tag name="KSO_WM_UNIT_LAYERLEVEL" val="1_1_1_1"/>
  <p:tag name="KSO_WM_TAG_VERSION" val="3.0"/>
  <p:tag name="KSO_WM_BEAUTIFY_FLAG" val="#wm#"/>
  <p:tag name="KSO_WM_UNIT_VALUE" val="12"/>
  <p:tag name="KSO_WM_DIAGRAM_VERSION" val="3"/>
  <p:tag name="KSO_WM_DIAGRAM_COLOR_TRICK" val="1"/>
  <p:tag name="KSO_WM_DIAGRAM_COLOR_TEXT_CAN_REMOVE" val="n"/>
  <p:tag name="KSO_WM_UNIT_PRESET_TEXT" val="单击添加标题"/>
  <p:tag name="KSO_WM_UNIT_TEXT_FILL_FORE_SCHEMECOLOR_INDEX" val="1"/>
  <p:tag name="KSO_WM_UNIT_TEXT_FILL_TYPE" val="1"/>
  <p:tag name="KSO_WM_UNIT_TEXT_TYPE" val="1"/>
  <p:tag name="KSO_WM_DIAGRAM_MAX_ITEMCNT" val="3"/>
  <p:tag name="KSO_WM_DIAGRAM_MIN_ITEMCNT" val="3"/>
  <p:tag name="KSO_WM_DIAGRAM_VIRTUALLY_FRAME" val="{&quot;height&quot;:358.65,&quot;left&quot;:32.8,&quot;top&quot;:133.3,&quot;width&quot;:879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87.xml><?xml version="1.0" encoding="utf-8"?>
<p:tagLst xmlns:p="http://schemas.openxmlformats.org/presentationml/2006/main"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VALUE" val="64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40492951_1*n_h_h_f*1_2_1_1"/>
  <p:tag name="KSO_WM_TEMPLATE_CATEGORY" val="diagram"/>
  <p:tag name="KSO_WM_TEMPLATE_INDEX" val="4049295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UNIT_TEXT_TYPE" val="1"/>
  <p:tag name="KSO_WM_DIAGRAM_MAX_ITEMCNT" val="3"/>
  <p:tag name="KSO_WM_DIAGRAM_MIN_ITEMCNT" val="3"/>
  <p:tag name="KSO_WM_DIAGRAM_VIRTUALLY_FRAME" val="{&quot;height&quot;:358.65,&quot;left&quot;:32.8,&quot;top&quot;:133.3,&quot;width&quot;:879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2_3_2"/>
  <p:tag name="KSO_WM_UNIT_ID" val="diagram40492951_1*n_h_h_a*1_2_3_2"/>
  <p:tag name="KSO_WM_TEMPLATE_CATEGORY" val="diagram"/>
  <p:tag name="KSO_WM_TEMPLATE_INDEX" val="40492951"/>
  <p:tag name="KSO_WM_UNIT_LAYERLEVEL" val="1_1_1_1"/>
  <p:tag name="KSO_WM_TAG_VERSION" val="3.0"/>
  <p:tag name="KSO_WM_BEAUTIFY_FLAG" val="#wm#"/>
  <p:tag name="KSO_WM_UNIT_VALUE" val="12"/>
  <p:tag name="KSO_WM_DIAGRAM_VERSION" val="3"/>
  <p:tag name="KSO_WM_DIAGRAM_COLOR_TRICK" val="1"/>
  <p:tag name="KSO_WM_DIAGRAM_COLOR_TEXT_CAN_REMOVE" val="n"/>
  <p:tag name="KSO_WM_UNIT_PRESET_TEXT" val="单击添加标题"/>
  <p:tag name="KSO_WM_UNIT_TEXT_FILL_FORE_SCHEMECOLOR_INDEX" val="1"/>
  <p:tag name="KSO_WM_UNIT_TEXT_FILL_TYPE" val="1"/>
  <p:tag name="KSO_WM_UNIT_TEXT_TYPE" val="1"/>
  <p:tag name="KSO_WM_DIAGRAM_MAX_ITEMCNT" val="3"/>
  <p:tag name="KSO_WM_DIAGRAM_MIN_ITEMCNT" val="3"/>
  <p:tag name="KSO_WM_DIAGRAM_VIRTUALLY_FRAME" val="{&quot;height&quot;:358.65,&quot;left&quot;:32.8,&quot;top&quot;:133.3,&quot;width&quot;:879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89.xml><?xml version="1.0" encoding="utf-8"?>
<p:tagLst xmlns:p="http://schemas.openxmlformats.org/presentationml/2006/main"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40492951_1*n_h_h_f*1_2_3_1"/>
  <p:tag name="KSO_WM_TEMPLATE_CATEGORY" val="diagram"/>
  <p:tag name="KSO_WM_TEMPLATE_INDEX" val="40492951"/>
  <p:tag name="KSO_WM_UNIT_LAYERLEVEL" val="1_1_1_1"/>
  <p:tag name="KSO_WM_TAG_VERSION" val="3.0"/>
  <p:tag name="KSO_WM_BEAUTIFY_FLAG" val="#wm#"/>
  <p:tag name="KSO_WM_UNIT_VALUE" val="64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"/>
  <p:tag name="KSO_WM_UNIT_TEXT_FILL_FORE_SCHEMECOLOR_INDEX" val="1"/>
  <p:tag name="KSO_WM_UNIT_TEXT_FILL_TYPE" val="1"/>
  <p:tag name="KSO_WM_UNIT_TEXT_TYPE" val="1"/>
  <p:tag name="KSO_WM_DIAGRAM_MAX_ITEMCNT" val="3"/>
  <p:tag name="KSO_WM_DIAGRAM_MIN_ITEMCNT" val="3"/>
  <p:tag name="KSO_WM_DIAGRAM_VIRTUALLY_FRAME" val="{&quot;height&quot;:358.65,&quot;left&quot;:32.8,&quot;top&quot;:133.3,&quot;width&quot;:879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1"/>
  <p:tag name="KSO_WM_UNIT_ID" val="diagram40492951_1*n_h_h_i*1_2_3_1"/>
  <p:tag name="KSO_WM_TEMPLATE_CATEGORY" val="diagram"/>
  <p:tag name="KSO_WM_TEMPLATE_INDEX" val="4049295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3"/>
  <p:tag name="KSO_WM_DIAGRAM_MIN_ITEMCNT" val="3"/>
  <p:tag name="KSO_WM_DIAGRAM_VIRTUALLY_FRAME" val="{&quot;height&quot;:358.65,&quot;left&quot;:32.8,&quot;top&quot;:133.3,&quot;width&quot;:879.4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6200000047683716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4"/>
  <p:tag name="KSO_WM_UNIT_TEXT_FILL_TYPE" val="1"/>
  <p:tag name="KSO_WM_UNIT_USESOURCEFORMAT_APPLY" val="0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40492951_1*n_h_h_i*1_2_2_1"/>
  <p:tag name="KSO_WM_TEMPLATE_CATEGORY" val="diagram"/>
  <p:tag name="KSO_WM_TEMPLATE_INDEX" val="4049295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3"/>
  <p:tag name="KSO_WM_DIAGRAM_MIN_ITEMCNT" val="3"/>
  <p:tag name="KSO_WM_DIAGRAM_VIRTUALLY_FRAME" val="{&quot;height&quot;:358.65,&quot;left&quot;:32.8,&quot;top&quot;:133.3,&quot;width&quot;:879.4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6200000047683716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4"/>
  <p:tag name="KSO_WM_UNIT_TEXT_FILL_TYPE" val="1"/>
  <p:tag name="KSO_WM_UNIT_USESOURCEFORMAT_APPLY" val="0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i"/>
  <p:tag name="KSO_WM_UNIT_INDEX" val="1_1"/>
  <p:tag name="KSO_WM_UNIT_ID" val="diagram40492951_1*n_i*1_1"/>
  <p:tag name="KSO_WM_TEMPLATE_CATEGORY" val="diagram"/>
  <p:tag name="KSO_WM_TEMPLATE_INDEX" val="40492951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58.65,&quot;left&quot;:32.8,&quot;top&quot;:133.3,&quot;width&quot;:879.4}"/>
  <p:tag name="KSO_WM_DIAGRAM_COLOR_MATCH_VALUE" val="{&quot;shape&quot;:{&quot;fill&quot;:{&quot;type&quot;:0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14"/>
  <p:tag name="KSO_WM_UNIT_TEXT_FILL_TYPE" val="1"/>
  <p:tag name="KSO_WM_UNIT_USESOURCEFORMAT_APPLY" val="0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1"/>
  <p:tag name="KSO_WM_UNIT_ID" val="diagram40492951_1*n_h_h_i*1_2_1_1"/>
  <p:tag name="KSO_WM_TEMPLATE_CATEGORY" val="diagram"/>
  <p:tag name="KSO_WM_TEMPLATE_INDEX" val="4049295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3"/>
  <p:tag name="KSO_WM_DIAGRAM_MIN_ITEMCNT" val="3"/>
  <p:tag name="KSO_WM_DIAGRAM_VIRTUALLY_FRAME" val="{&quot;height&quot;:358.65,&quot;left&quot;:32.8,&quot;top&quot;:133.3,&quot;width&quot;:879.4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6200000047683716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4"/>
  <p:tag name="KSO_WM_UNIT_TEXT_FILL_TYPE" val="1"/>
  <p:tag name="KSO_WM_UNIT_USESOURCEFORMAT_APPLY" val="0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i"/>
  <p:tag name="KSO_WM_UNIT_INDEX" val="1_2"/>
  <p:tag name="KSO_WM_UNIT_ID" val="diagram40492951_1*n_i*1_2"/>
  <p:tag name="KSO_WM_TEMPLATE_CATEGORY" val="diagram"/>
  <p:tag name="KSO_WM_TEMPLATE_INDEX" val="40492951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58.65,&quot;left&quot;:32.8,&quot;top&quot;:133.3,&quot;width&quot;:879.4}"/>
  <p:tag name="KSO_WM_DIAGRAM_COLOR_MATCH_VALUE" val="{&quot;shape&quot;:{&quot;fill&quot;:{&quot;type&quot;:0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14"/>
  <p:tag name="KSO_WM_UNIT_TEXT_FILL_TYPE" val="1"/>
  <p:tag name="KSO_WM_UNIT_USESOURCEFORMAT_APPLY" val="0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i"/>
  <p:tag name="KSO_WM_UNIT_INDEX" val="1_3"/>
  <p:tag name="KSO_WM_UNIT_ID" val="diagram40492951_1*n_i*1_3"/>
  <p:tag name="KSO_WM_TEMPLATE_CATEGORY" val="diagram"/>
  <p:tag name="KSO_WM_TEMPLATE_INDEX" val="40492951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58.65,&quot;left&quot;:32.8,&quot;top&quot;:133.3,&quot;width&quot;:879.4}"/>
  <p:tag name="KSO_WM_DIAGRAM_COLOR_MATCH_VALUE" val="{&quot;shape&quot;:{&quot;fill&quot;:{&quot;type&quot;:0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14"/>
  <p:tag name="KSO_WM_UNIT_TEXT_FILL_TYPE" val="1"/>
  <p:tag name="KSO_WM_UNIT_USESOURCEFORMAT_APPLY" val="0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2_1_1"/>
  <p:tag name="KSO_WM_UNIT_ID" val="diagram40492951_1*n_h_h_a*1_2_1_1"/>
  <p:tag name="KSO_WM_TEMPLATE_CATEGORY" val="diagram"/>
  <p:tag name="KSO_WM_TEMPLATE_INDEX" val="4049295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添加标题"/>
  <p:tag name="KSO_WM_UNIT_TEXT_TYPE" val="1"/>
  <p:tag name="KSO_WM_DIAGRAM_MAX_ITEMCNT" val="3"/>
  <p:tag name="KSO_WM_DIAGRAM_MIN_ITEMCNT" val="3"/>
  <p:tag name="KSO_WM_DIAGRAM_VIRTUALLY_FRAME" val="{&quot;height&quot;:358.65,&quot;left&quot;:32.8,&quot;top&quot;:133.3,&quot;width&quot;:879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2_2_1"/>
  <p:tag name="KSO_WM_UNIT_ID" val="diagram40492951_1*n_h_h_a*1_2_2_1"/>
  <p:tag name="KSO_WM_TEMPLATE_CATEGORY" val="diagram"/>
  <p:tag name="KSO_WM_TEMPLATE_INDEX" val="4049295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添加标题"/>
  <p:tag name="KSO_WM_UNIT_TEXT_TYPE" val="1"/>
  <p:tag name="KSO_WM_DIAGRAM_MAX_ITEMCNT" val="3"/>
  <p:tag name="KSO_WM_DIAGRAM_MIN_ITEMCNT" val="3"/>
  <p:tag name="KSO_WM_DIAGRAM_VIRTUALLY_FRAME" val="{&quot;height&quot;:358.65,&quot;left&quot;:32.8,&quot;top&quot;:133.3,&quot;width&quot;:879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2_3_1"/>
  <p:tag name="KSO_WM_UNIT_ID" val="diagram40492951_1*n_h_h_a*1_2_3_1"/>
  <p:tag name="KSO_WM_TEMPLATE_CATEGORY" val="diagram"/>
  <p:tag name="KSO_WM_TEMPLATE_INDEX" val="40492951"/>
  <p:tag name="KSO_WM_UNIT_LAYERLEVEL" val="1_1_1_1"/>
  <p:tag name="KSO_WM_TAG_VERSION" val="3.0"/>
  <p:tag name="KSO_WM_BEAUTIFY_FLAG" val="#wm#"/>
  <p:tag name="KSO_WM_UNIT_VALUE" val="6"/>
  <p:tag name="KSO_WM_DIAGRAM_VERSION" val="3"/>
  <p:tag name="KSO_WM_DIAGRAM_COLOR_TRICK" val="1"/>
  <p:tag name="KSO_WM_DIAGRAM_COLOR_TEXT_CAN_REMOVE" val="n"/>
  <p:tag name="KSO_WM_UNIT_PRESET_TEXT" val="添加标题"/>
  <p:tag name="KSO_WM_UNIT_TEXT_TYPE" val="1"/>
  <p:tag name="KSO_WM_DIAGRAM_MAX_ITEMCNT" val="3"/>
  <p:tag name="KSO_WM_DIAGRAM_MIN_ITEMCNT" val="3"/>
  <p:tag name="KSO_WM_DIAGRAM_VIRTUALLY_FRAME" val="{&quot;height&quot;:358.65,&quot;left&quot;:32.8,&quot;top&quot;:133.3,&quot;width&quot;:879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40492951_1*n_h_a*1_1_1"/>
  <p:tag name="KSO_WM_TEMPLATE_CATEGORY" val="diagram"/>
  <p:tag name="KSO_WM_TEMPLATE_INDEX" val="40492951"/>
  <p:tag name="KSO_WM_UNIT_LAYERLEVEL" val="1_1_1"/>
  <p:tag name="KSO_WM_TAG_VERSION" val="3.0"/>
  <p:tag name="KSO_WM_BEAUTIFY_FLAG" val="#wm#"/>
  <p:tag name="KSO_WM_UNIT_VALUE" val="12"/>
  <p:tag name="KSO_WM_DIAGRAM_VERSION" val="3"/>
  <p:tag name="KSO_WM_DIAGRAM_COLOR_TRICK" val="1"/>
  <p:tag name="KSO_WM_DIAGRAM_COLOR_TEXT_CAN_REMOVE" val="n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3"/>
  <p:tag name="KSO_WM_DIAGRAM_MIN_ITEMCNT" val="3"/>
  <p:tag name="KSO_WM_DIAGRAM_VIRTUALLY_FRAME" val="{&quot;height&quot;:358.65,&quot;left&quot;:32.8,&quot;top&quot;:133.3,&quot;width&quot;:879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00.xml><?xml version="1.0" encoding="utf-8"?>
<p:tagLst xmlns:p="http://schemas.openxmlformats.org/presentationml/2006/main">
  <p:tag name="KSO_WM_UNIT_VALUE" val="80*8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3_1"/>
  <p:tag name="KSO_WM_UNIT_ID" val="diagram40492951_1*n_h_h_x*1_2_3_1"/>
  <p:tag name="KSO_WM_TEMPLATE_CATEGORY" val="diagram"/>
  <p:tag name="KSO_WM_TEMPLATE_INDEX" val="4049295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58.65,&quot;left&quot;:32.8,&quot;top&quot;:133.3,&quot;width&quot;:879.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101.xml><?xml version="1.0" encoding="utf-8"?>
<p:tagLst xmlns:p="http://schemas.openxmlformats.org/presentationml/2006/main">
  <p:tag name="KSO_WM_UNIT_VALUE" val="80*8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1_1"/>
  <p:tag name="KSO_WM_UNIT_ID" val="diagram40492951_1*n_h_h_x*1_2_1_1"/>
  <p:tag name="KSO_WM_TEMPLATE_CATEGORY" val="diagram"/>
  <p:tag name="KSO_WM_TEMPLATE_INDEX" val="4049295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58.65,&quot;left&quot;:32.8,&quot;top&quot;:133.3,&quot;width&quot;:879.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102.xml><?xml version="1.0" encoding="utf-8"?>
<p:tagLst xmlns:p="http://schemas.openxmlformats.org/presentationml/2006/main">
  <p:tag name="KSO_WM_UNIT_VALUE" val="80*8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2_1"/>
  <p:tag name="KSO_WM_UNIT_ID" val="diagram40492951_1*n_h_h_x*1_2_2_1"/>
  <p:tag name="KSO_WM_TEMPLATE_CATEGORY" val="diagram"/>
  <p:tag name="KSO_WM_TEMPLATE_INDEX" val="4049295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58.65,&quot;left&quot;:32.8,&quot;top&quot;:133.3,&quot;width&quot;:879.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103.xml><?xml version="1.0" encoding="utf-8"?>
<p:tagLst xmlns:p="http://schemas.openxmlformats.org/presentationml/2006/main">
  <p:tag name="KSO_WM_SLIDE_ID" val="custom4049297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05081"/>
  <p:tag name="KSO_WM_SLIDE_TYPE" val="text"/>
  <p:tag name="KSO_WM_SLIDE_SUBTYPE" val="picTxt"/>
  <p:tag name="KSO_WM_SLIDE_SIZE" val="864.4*348.55"/>
  <p:tag name="KSO_WM_SLIDE_POSITION" val="47.6*143.4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1_5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1_5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15000000596046448,&quot;colorType&quot;:1,&quot;foreColorIndex&quot;:5,&quot;pos&quot;:0.349999994039535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UNIT_TEXT_FILL_FORE_SCHEMECOLOR_INDEX" val="13"/>
  <p:tag name="KSO_WM_UNIT_TEXT_FILL_TYPE" val="1"/>
  <p:tag name="KSO_WM_UNIT_USESOURCEFORMAT_APPLY" val="0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1_4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1_4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3"/>
  <p:tag name="KSO_WM_UNIT_TEXT_FILL_TYPE" val="1"/>
  <p:tag name="KSO_WM_UNIT_USESOURCEFORMAT_APPLY" val="0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2_5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2_5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15000000596046448,&quot;colorType&quot;:1,&quot;foreColorIndex&quot;:5,&quot;pos&quot;:0.349999994039535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UNIT_TEXT_FILL_FORE_SCHEMECOLOR_INDEX" val="13"/>
  <p:tag name="KSO_WM_UNIT_TEXT_FILL_TYPE" val="1"/>
  <p:tag name="KSO_WM_UNIT_USESOURCEFORMAT_APPLY" val="0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2_4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2_4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3"/>
  <p:tag name="KSO_WM_UNIT_TEXT_FILL_TYPE" val="1"/>
  <p:tag name="KSO_WM_UNIT_USESOURCEFORMAT_APPLY" val="0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3_5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3_5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15000000596046448,&quot;colorType&quot;:1,&quot;foreColorIndex&quot;:5,&quot;pos&quot;:0.349999994039535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UNIT_TEXT_FILL_FORE_SCHEMECOLOR_INDEX" val="13"/>
  <p:tag name="KSO_WM_UNIT_TEXT_FILL_TYPE" val="1"/>
  <p:tag name="KSO_WM_UNIT_USESOURCEFORMAT_APPLY" val="0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3_4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3_4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3"/>
  <p:tag name="KSO_WM_UNIT_TEXT_FILL_TYPE" val="1"/>
  <p:tag name="KSO_WM_UNIT_USESOURCEFORMAT_APPLY" val="0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2_6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2_6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solid&quot;:{&quot;brightness&quot;:0.75,&quot;colorType&quot;:1,&quot;foreColorIndex&quot;:13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75"/>
  <p:tag name="KSO_WM_UNIT_LINE_FORE_SCHEMECOLOR_INDEX" val="-2"/>
  <p:tag name="KSO_WM_UNIT_TEXT_FILL_FORE_SCHEMECOLOR_INDEX" val="13"/>
  <p:tag name="KSO_WM_UNIT_TEXT_FILL_TYPE" val="1"/>
  <p:tag name="KSO_WM_UNIT_USESOURCEFORMAT_APPLY" val="0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3_6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3_6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solid&quot;:{&quot;brightness&quot;:0.75,&quot;colorType&quot;:1,&quot;foreColorIndex&quot;:13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75"/>
  <p:tag name="KSO_WM_UNIT_LINE_FORE_SCHEMECOLOR_INDEX" val="-2"/>
  <p:tag name="KSO_WM_UNIT_TEXT_FILL_FORE_SCHEMECOLOR_INDEX" val="13"/>
  <p:tag name="KSO_WM_UNIT_TEXT_FILL_TYPE" val="1"/>
  <p:tag name="KSO_WM_UNIT_USESOURCEFORMAT_APPLY" val="0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i*1_1"/>
  <p:tag name="KSO_WM_TEMPLATE_CATEGORY" val="diagram"/>
  <p:tag name="KSO_WM_TEMPLATE_INDEX" val="20234406"/>
  <p:tag name="KSO_WM_UNIT_LAYERLEVEL" val="1_1"/>
  <p:tag name="KSO_WM_TAG_VERSION" val="3.0"/>
  <p:tag name="KSO_WM_UNIT_TYPE" val="m_i"/>
  <p:tag name="KSO_WM_UNIT_INDEX" val="1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solid&quot;:{&quot;brightness&quot;:0.6499999761581421,&quot;colorType&quot;:1,&quot;foreColorIndex&quot;:13,&quot;transparency&quot;:0.64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65"/>
  <p:tag name="KSO_WM_UNIT_LINE_FORE_SCHEMECOLOR_INDEX" val="-2"/>
  <p:tag name="KSO_WM_UNIT_TEXT_FILL_FORE_SCHEMECOLOR_INDEX" val="13"/>
  <p:tag name="KSO_WM_UNIT_TEXT_FILL_TYPE" val="1"/>
  <p:tag name="KSO_WM_UNIT_USESOURCEFORMAT_APPLY" val="0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1_6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1_6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solid&quot;:{&quot;brightness&quot;:0.75,&quot;colorType&quot;:1,&quot;foreColorIndex&quot;:13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75"/>
  <p:tag name="KSO_WM_UNIT_LINE_FORE_SCHEMECOLOR_INDEX" val="-2"/>
  <p:tag name="KSO_WM_UNIT_TEXT_FILL_FORE_SCHEMECOLOR_INDEX" val="13"/>
  <p:tag name="KSO_WM_UNIT_TEXT_FILL_TYPE" val="1"/>
  <p:tag name="KSO_WM_UNIT_USESOURCEFORMAT_APPLY" val="0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x*1_1_1"/>
  <p:tag name="KSO_WM_TEMPLATE_CATEGORY" val="diagram"/>
  <p:tag name="KSO_WM_TEMPLATE_INDEX" val="20234406"/>
  <p:tag name="KSO_WM_UNIT_LAYERLEVEL" val="1_1_1"/>
  <p:tag name="KSO_WM_TAG_VERSION" val="3.0"/>
  <p:tag name="KSO_WM_UNIT_VALUE" val="127*144"/>
  <p:tag name="KSO_WM_UNIT_TYPE" val="m_h_x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x*1_2_1"/>
  <p:tag name="KSO_WM_TEMPLATE_CATEGORY" val="diagram"/>
  <p:tag name="KSO_WM_TEMPLATE_INDEX" val="20234406"/>
  <p:tag name="KSO_WM_UNIT_LAYERLEVEL" val="1_1_1"/>
  <p:tag name="KSO_WM_TAG_VERSION" val="3.0"/>
  <p:tag name="KSO_WM_UNIT_VALUE" val="132*129"/>
  <p:tag name="KSO_WM_UNIT_TYPE" val="m_h_x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x*1_3_1"/>
  <p:tag name="KSO_WM_TEMPLATE_CATEGORY" val="diagram"/>
  <p:tag name="KSO_WM_TEMPLATE_INDEX" val="20234406"/>
  <p:tag name="KSO_WM_UNIT_LAYERLEVEL" val="1_1_1"/>
  <p:tag name="KSO_WM_TAG_VERSION" val="3.0"/>
  <p:tag name="KSO_WM_UNIT_VALUE" val="107*144"/>
  <p:tag name="KSO_WM_UNIT_TYPE" val="m_h_x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f*1_3_1"/>
  <p:tag name="KSO_WM_TEMPLATE_CATEGORY" val="diagram"/>
  <p:tag name="KSO_WM_TEMPLATE_INDEX" val="20234406"/>
  <p:tag name="KSO_WM_UNIT_LAYERLEVEL" val="1_1_1"/>
  <p:tag name="KSO_WM_TAG_VERSION" val="3.0"/>
  <p:tag name="KSO_WM_UNIT_SUBTYPE" val="a"/>
  <p:tag name="KSO_WM_UNIT_NOCLEAR" val="0"/>
  <p:tag name="KSO_WM_UNIT_VALUE" val="80"/>
  <p:tag name="KSO_WM_UNIT_TYPE" val="m_h_f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文字是您思想的提炼，简明扼要地阐述您的观点根据需要可酌情增减文字，以便观者能够准确地理解您所传达的思想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3_3"/>
  <p:tag name="KSO_WM_TEMPLATE_CATEGORY" val="diagram"/>
  <p:tag name="KSO_WM_TEMPLATE_INDEX" val="20234406"/>
  <p:tag name="KSO_WM_UNIT_LAYERLEVEL" val="1_1_1"/>
  <p:tag name="KSO_WM_TAG_VERSION" val="3.0"/>
  <p:tag name="KSO_WM_UNIT_SUBTYPE" val="nb"/>
  <p:tag name="KSO_WM_UNIT_TYPE" val="m_h_i"/>
  <p:tag name="KSO_WM_UNIT_INDEX" val="1_3_3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f*1_2_1"/>
  <p:tag name="KSO_WM_TEMPLATE_CATEGORY" val="diagram"/>
  <p:tag name="KSO_WM_TEMPLATE_INDEX" val="20234406"/>
  <p:tag name="KSO_WM_UNIT_LAYERLEVEL" val="1_1_1"/>
  <p:tag name="KSO_WM_TAG_VERSION" val="3.0"/>
  <p:tag name="KSO_WM_UNIT_SUBTYPE" val="a"/>
  <p:tag name="KSO_WM_UNIT_NOCLEAR" val="0"/>
  <p:tag name="KSO_WM_UNIT_VALUE" val="80"/>
  <p:tag name="KSO_WM_UNIT_TYPE" val="m_h_f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简明扼要地阐述您的内容观点根据需要可酌情增减文字，以便观者能够准确地理解您所传达的思想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2_3"/>
  <p:tag name="KSO_WM_TEMPLATE_CATEGORY" val="diagram"/>
  <p:tag name="KSO_WM_TEMPLATE_INDEX" val="20234406"/>
  <p:tag name="KSO_WM_UNIT_LAYERLEVEL" val="1_1_1"/>
  <p:tag name="KSO_WM_TAG_VERSION" val="3.0"/>
  <p:tag name="KSO_WM_UNIT_SUBTYPE" val="nb"/>
  <p:tag name="KSO_WM_UNIT_TYPE" val="m_h_i"/>
  <p:tag name="KSO_WM_UNIT_INDEX" val="1_2_3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f*1_1_1"/>
  <p:tag name="KSO_WM_TEMPLATE_CATEGORY" val="diagram"/>
  <p:tag name="KSO_WM_TEMPLATE_INDEX" val="20234406"/>
  <p:tag name="KSO_WM_UNIT_LAYERLEVEL" val="1_1_1"/>
  <p:tag name="KSO_WM_TAG_VERSION" val="3.0"/>
  <p:tag name="KSO_WM_UNIT_SUBTYPE" val="a"/>
  <p:tag name="KSO_WM_UNIT_NOCLEAR" val="0"/>
  <p:tag name="KSO_WM_UNIT_VALUE" val="80"/>
  <p:tag name="KSO_WM_UNIT_TYPE" val="m_h_f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文字是您思想的提炼，简明扼要地阐述您的观点根据需要可酌情增减文字，以便观者能够准确地理解您所传达的思想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1_3"/>
  <p:tag name="KSO_WM_TEMPLATE_CATEGORY" val="diagram"/>
  <p:tag name="KSO_WM_TEMPLATE_INDEX" val="20234406"/>
  <p:tag name="KSO_WM_UNIT_LAYERLEVEL" val="1_1_1"/>
  <p:tag name="KSO_WM_TAG_VERSION" val="3.0"/>
  <p:tag name="KSO_WM_UNIT_SUBTYPE" val="nb"/>
  <p:tag name="KSO_WM_UNIT_TYPE" val="m_h_i"/>
  <p:tag name="KSO_WM_UNIT_INDEX" val="1_1_3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3_2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3_2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gradient&quot;:[{&quot;brightness&quot;:0.6000000238418579,&quot;colorType&quot;:1,&quot;foreColorIndex&quot;:5,&quot;pos&quot;:1,&quot;transparency&quot;:0},{&quot;brightness&quot;:0.15000000596046448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UNIT_TEXT_FILL_FORE_SCHEMECOLOR_INDEX" val="2"/>
  <p:tag name="KSO_WM_UNIT_TEXT_FILL_TYPE" val="1"/>
  <p:tag name="KSO_WM_UNIT_USESOURCEFORMAT_APPLY" val="0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2_2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2_2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gradient&quot;:[{&quot;brightness&quot;:0.6000000238418579,&quot;colorType&quot;:1,&quot;foreColorIndex&quot;:5,&quot;pos&quot;:1,&quot;transparency&quot;:0},{&quot;brightness&quot;:0.15000000596046448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UNIT_TEXT_FILL_FORE_SCHEMECOLOR_INDEX" val="2"/>
  <p:tag name="KSO_WM_UNIT_TEXT_FILL_TYPE" val="1"/>
  <p:tag name="KSO_WM_UNIT_USESOURCEFORMAT_APPLY" val="0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1_2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1_2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gradient&quot;:[{&quot;brightness&quot;:0.6000000238418579,&quot;colorType&quot;:1,&quot;foreColorIndex&quot;:5,&quot;pos&quot;:1,&quot;transparency&quot;:0},{&quot;brightness&quot;:0.15000000596046448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UNIT_TEXT_FILL_FORE_SCHEMECOLOR_INDEX" val="2"/>
  <p:tag name="KSO_WM_UNIT_TEXT_FILL_TYPE" val="1"/>
  <p:tag name="KSO_WM_UNIT_USESOURCEFORMAT_APPLY" val="0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3_1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2_1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1_1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8.7333984375,&quot;left&quot;:65.35322834645669,&quot;top&quot;:68.66806456077757,&quot;width&quot;:825.24245254636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a*1"/>
  <p:tag name="KSO_WM_TEMPLATE_CATEGORY" val="diagram"/>
  <p:tag name="KSO_WM_TEMPLATE_INDEX" val="20234406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VALUE" val="28"/>
  <p:tag name="KSO_WM_DIAGRAM_GROUP_CODE" val="m1-1"/>
  <p:tag name="KSO_WM_UNIT_TEXT_TYPE" val="1"/>
  <p:tag name="KSO_WM_UNIT_PRESET_TEXT" val="单击此处添加&#13;标题内容"/>
  <p:tag name="KSO_WM_UNIT_TEXT_FILL_FORE_SCHEMECOLOR_INDEX" val="13"/>
  <p:tag name="KSO_WM_UNIT_TEXT_FILL_TYPE" val="1"/>
  <p:tag name="KSO_WM_UNIT_USESOURCEFORMAT_APPLY" val="0"/>
</p:tagLst>
</file>

<file path=ppt/tags/tag130.xml><?xml version="1.0" encoding="utf-8"?>
<p:tagLst xmlns:p="http://schemas.openxmlformats.org/presentationml/2006/main">
  <p:tag name="KSO_WM_SLIDE_ID" val="diagram20234406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1"/>
  <p:tag name="KSO_WM_SLIDE_SIZE" val="767.035*379.917"/>
  <p:tag name="KSO_WM_SLIDE_POSITION" val="118.553*108.076"/>
  <p:tag name="KSO_WM_TAG_VERSION" val="3.0"/>
  <p:tag name="KSO_WM_BEAUTIFY_FLAG" val="#wm#"/>
  <p:tag name="KSO_WM_TEMPLATE_CATEGORY" val="custom"/>
  <p:tag name="KSO_WM_TEMPLATE_INDEX" val="20205081"/>
  <p:tag name="KSO_WM_SLIDE_LAYOUT" val="a_m"/>
  <p:tag name="KSO_WM_SLIDE_LAYOUT_CNT" val="1_1"/>
  <p:tag name="KSO_WM_DIAGRAM_GROUP_CODE" val="m1-1"/>
  <p:tag name="KSO_WM_SLIDE_DIAGTYPE" val="m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3507</Words>
  <Application>WPS 文字</Application>
  <PresentationFormat>宽屏</PresentationFormat>
  <Paragraphs>138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汉仪书宋二KW</vt:lpstr>
      <vt:lpstr>苹方-简</vt:lpstr>
      <vt:lpstr>微软雅黑</vt:lpstr>
      <vt:lpstr>汉仪旗黑</vt:lpstr>
      <vt:lpstr>宋体</vt:lpstr>
      <vt:lpstr>Arial Unicode MS</vt:lpstr>
      <vt:lpstr>江城圆体 400W</vt:lpstr>
      <vt:lpstr>思源黑体 CN Bold</vt:lpstr>
      <vt:lpstr>汉仪中黑KW</vt:lpstr>
      <vt:lpstr>Arial</vt:lpstr>
      <vt:lpstr>WPS</vt:lpstr>
      <vt:lpstr>PowerPoint 演示文稿</vt:lpstr>
      <vt:lpstr>单击此处添加标题</vt:lpstr>
      <vt:lpstr>单击此处添加标题</vt:lpstr>
      <vt:lpstr>标题内容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WPS_1754659214</cp:lastModifiedBy>
  <cp:revision>182</cp:revision>
  <dcterms:created xsi:type="dcterms:W3CDTF">2026-09-12T00:54:01Z</dcterms:created>
  <dcterms:modified xsi:type="dcterms:W3CDTF">2026-09-12T00:54:01Z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FEC59C98C236A41FE4839F6A42C990C7_41</vt:lpwstr>
  </property>
</Properties>
</file>